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d109055-7343-2f60-fb30-64626d5c989b}">
          <p14:sldIdLst>
            <p14:sldId id="256"/>
          </p14:sldIdLst>
        </p14:section>
        <p14:section name="How it is wired" id="{65bbbc2e-1848-26e8-8c3e-dfba971f3719}">
          <p14:sldIdLst>
            <p14:sldId id="257"/>
            <p14:sldId id="258"/>
            <p14:sldId id="259"/>
            <p14:sldId id="260"/>
            <p14:sldId id="261"/>
          </p14:sldIdLst>
        </p14:section>
        <p14:section name="How it is built" id="{1f42b983-432d-ff8a-20a9-ab35fc61a7e2}">
          <p14:sldIdLst>
            <p14:sldId id="262"/>
            <p14:sldId id="263"/>
            <p14:sldId id="264"/>
            <p14:sldId id="265"/>
          </p14:sldIdLst>
        </p14:section>
        <p14:section name="What it answers" id="{86b55a64-7e61-6956-55b8-f8c66f823585}">
          <p14:sldIdLst>
            <p14:sldId id="266"/>
            <p14:sldId id="267"/>
            <p14:sldId id="268"/>
            <p14:sldId id="269"/>
          </p14:sldIdLst>
        </p14:section>
        <p14:section name="What did not work" id="{61016a28-dcbd-8b7b-7bac-499d7bdccb4b}">
          <p14:sldIdLst>
            <p14:sldId id="270"/>
          </p14:sldIdLst>
        </p14:section>
        <p14:section name="Working together" id="{9c47b32d-a038-67b6-1c63-f9c357fd32d4}">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BINMAN is an empirical atlas. Nothing here is predicted structure: every bridge is measured in a deposited crystal or cryo-EM structure. The four stages run left to right and each writes a manifest, so the whole thing is resumable. The next five slides take the same build apart five ways, for anyone who wants the software rather than the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a column for one stage, or across a lane for one kind of thing. The CALLS lane is parsed out of the imports rather than written by hand, which is why it is worth trusting: a module that drops a library changes this figure at the next build. The band at the bottom is the part that makes the build survivable. Every stage appends one row per item to its manifest, so a run killed at hour nine resumes at item 90,000 rather than at item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five stages, with the machinery they share drawn once instead of five times. pixi pins one environment and one lock file; the thresholds live in a TOML file rather than in the Python, so no cutoff is buried in a function; the manifests make every stage resumable; the tests cover the pipeline and the serving layer in one run. The point of the rail is that these are not five scripts that happen to be in one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is parsed, not drawn: every line is an import that exists in the repository. It is the honest answer to how the parts connect, and it is also the least comfortable to read, which is why it is here rather than on slide one. The shape is the useful part. SQLite and numpy are called from everywhere, mlx-lm from four places, peft from one. A library with one line into it is a library you can remove without touching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each piece actually runs. The important claim is the one on the droplet: no gemmi, no FreeSASA, no fpocket at request time. It serves a precomputed SQLite file opened read only, which is why a page comes back in about a tenth of a second on one vCPU. The four numbered crossings are the only things that move between machines, and the raw structures are not among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build told as the files it writes. Each stage reads the file before it and appends to the file after it, and holds no state across items. That is what makes the whole thing restartable, and it is also what makes it checkable: the check under each hop is a real file in the repository, not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1 is the curated glue set, tier 4 is single-entity entries kept as the negative class for the triage model. Nothing is thrown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failures are recorded with their reason. Spec rule: a failure is data, not an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three becomes one of the four modules later. The fourth, Glue Atlas, comes straight out of stage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round that fixed the abstain head finished this morning: 15,806 iterations, four hours on the Studio. Specificity is now 1.0 on twelve questions the atlas demonstrably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series row carries two measurements rather than a verdict: ligand share, and how much of the interface survives in a structure without that chemistry.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scan fires on 65% of matched negatives because a C2H2 zinc finger IS a short hairpin with an exposed turn. That is the diagnosis, and it is why sequence beats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ranking is of the repertoire, not of fit to a particular target. Pairing a ligase with a substrate is what the Lens graph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negative result I would most want a collaborator to know before designing a target-selection funnel.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DECISIONS.md carries 92 entries, each with the alternatives considered and the condition under which it should be reversed. The failures are not footnotes: they are the part a collaborator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a half-day walkthrough of the code with the atlas open, so the numbers can be checked live rather than taken on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5171A"/>
        </a:solidFill>
      </p:bgPr>
    </p:bg>
    <p:spTree>
      <p:nvGrpSpPr>
        <p:cNvPr id="1" name=""/>
        <p:cNvGrpSpPr/>
        <p:nvPr/>
      </p:nvGrpSpPr>
      <p:grpSpPr>
        <a:xfrm>
          <a:off x="0" y="0"/>
          <a:ext cx="0" cy="0"/>
          <a:chOff x="0" y="0"/>
          <a:chExt cx="0" cy="0"/>
        </a:xfrm>
      </p:grpSpPr>
      <p:sp>
        <p:nvSpPr>
          <p:cNvPr id="2" name="Text 0"/>
          <p:cNvSpPr txBox="1"/>
          <p:nvPr/>
        </p:nvSpPr>
        <p:spPr>
          <a:xfrm>
            <a:off x="502920" y="6400800"/>
            <a:ext cx="2743200" cy="274320"/>
          </a:xfrm>
          <a:prstGeom prst="rect">
            <a:avLst/>
          </a:prstGeom>
          <a:noFill/>
          <a:ln/>
        </p:spPr>
        <p:txBody>
          <a:bodyPr wrap="square" lIns="0" tIns="0" rIns="0" bIns="0" rtlCol="0" anchor="ctr"/>
          <a:lstStyle/>
          <a:p>
            <a:pPr indent="0" marL="0">
              <a:buNone/>
            </a:pPr>
            <a:r>
              <a:rPr lang="en-US" sz="1000" spc="200" kern="0" dirty="0">
                <a:solidFill>
                  <a:srgbClr val="61655F"/>
                </a:solidFill>
              </a:rPr>
              <a:t>BINMAN</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37376"/>
            <a:ext cx="4572000" cy="274320"/>
          </a:xfrm>
          <a:prstGeom prst="rect">
            <a:avLst/>
          </a:prstGeom>
          <a:noFill/>
          <a:ln/>
        </p:spPr>
        <p:txBody>
          <a:bodyPr wrap="square" lIns="0" tIns="0" rIns="0" bIns="0" rtlCol="0" anchor="ctr"/>
          <a:lstStyle/>
          <a:p>
            <a:pPr indent="0" marL="0">
              <a:buNone/>
            </a:pPr>
            <a:r>
              <a:rPr lang="en-US" sz="950" spc="100" kern="0" dirty="0">
                <a:solidFill>
                  <a:srgbClr val="61655F"/>
                </a:solidFill>
              </a:rPr>
              <a:t>BINMAN  ·  binman.mdeller.com</a:t>
            </a:r>
            <a:endParaRPr lang="en-US" sz="950" dirty="0"/>
          </a:p>
        </p:txBody>
      </p:sp>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02920" y="475488"/>
            <a:ext cx="5486400" cy="566928"/>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BINMAN</a:t>
            </a:r>
            <a:endParaRPr lang="en-US" sz="4000" dirty="0"/>
          </a:p>
        </p:txBody>
      </p:sp>
      <p:sp>
        <p:nvSpPr>
          <p:cNvPr id="3" name="Text 1"/>
          <p:cNvSpPr txBox="1"/>
          <p:nvPr/>
        </p:nvSpPr>
        <p:spPr>
          <a:xfrm>
            <a:off x="502920" y="1005840"/>
            <a:ext cx="7772400" cy="274320"/>
          </a:xfrm>
          <a:prstGeom prst="rect">
            <a:avLst/>
          </a:prstGeom>
          <a:noFill/>
          <a:ln/>
        </p:spPr>
        <p:txBody>
          <a:bodyPr wrap="square" lIns="0" tIns="0" rIns="0" bIns="0" rtlCol="0" anchor="ctr"/>
          <a:lstStyle/>
          <a:p>
            <a:pPr indent="0" marL="0">
              <a:buNone/>
            </a:pPr>
            <a:r>
              <a:rPr lang="en-US" sz="1300" i="1" dirty="0">
                <a:solidFill>
                  <a:srgbClr val="A64708"/>
                </a:solidFill>
              </a:rPr>
              <a:t>Blind-spot INventory of Molecular Adhesives and Neosubstrates</a:t>
            </a:r>
            <a:endParaRPr lang="en-US" sz="1300" dirty="0"/>
          </a:p>
        </p:txBody>
      </p:sp>
      <p:sp>
        <p:nvSpPr>
          <p:cNvPr id="4" name="Text 2"/>
          <p:cNvSpPr txBox="1"/>
          <p:nvPr/>
        </p:nvSpPr>
        <p:spPr>
          <a:xfrm>
            <a:off x="8549640" y="493776"/>
            <a:ext cx="3108960" cy="822960"/>
          </a:xfrm>
          <a:prstGeom prst="rect">
            <a:avLst/>
          </a:prstGeom>
          <a:noFill/>
          <a:ln/>
        </p:spPr>
        <p:txBody>
          <a:bodyPr wrap="square" lIns="0" tIns="0" rIns="0" bIns="0" rtlCol="0" anchor="ctr"/>
          <a:lstStyle/>
          <a:p>
            <a:pPr algn="r" indent="0" marL="0">
              <a:buNone/>
            </a:pPr>
            <a:r>
              <a:rPr lang="en-US" sz="1100" dirty="0">
                <a:solidFill>
                  <a:srgbClr val="61655F"/>
                </a:solidFill>
              </a:rPr>
              <a:t>Marc C. Deller, D.Phil.</a:t>
            </a:r>
            <a:pPr algn="r" indent="0" marL="0">
              <a:buNone/>
            </a:pPr>
            <a:endParaRPr lang="en-US" sz="1100" dirty="0"/>
          </a:p>
          <a:p>
            <a:pPr algn="r" indent="0" marL="0">
              <a:buNone/>
            </a:pPr>
            <a:r>
              <a:rPr lang="en-US" sz="1100" dirty="0">
                <a:solidFill>
                  <a:srgbClr val="61655F"/>
                </a:solidFill>
              </a:rPr>
              <a:t>binman.mdeller.com</a:t>
            </a:r>
            <a:pPr algn="r" indent="0" marL="0">
              <a:buNone/>
            </a:pPr>
            <a:endParaRPr lang="en-US" sz="1100" dirty="0"/>
          </a:p>
          <a:p>
            <a:pPr algn="r" indent="0" marL="0">
              <a:buNone/>
            </a:pPr>
            <a:r>
              <a:rPr lang="en-US" sz="1100" dirty="0">
                <a:solidFill>
                  <a:srgbClr val="61655F"/>
                </a:solidFill>
              </a:rPr>
              <a:t>github.com/bellcheddar/BINMAN</a:t>
            </a:r>
            <a:endParaRPr lang="en-US" sz="1100" dirty="0"/>
          </a:p>
        </p:txBody>
      </p:sp>
      <p:sp>
        <p:nvSpPr>
          <p:cNvPr id="5" name="Text 3"/>
          <p:cNvSpPr txBox="1"/>
          <p:nvPr/>
        </p:nvSpPr>
        <p:spPr>
          <a:xfrm>
            <a:off x="502920" y="1298448"/>
            <a:ext cx="11155680" cy="932688"/>
          </a:xfrm>
          <a:prstGeom prst="rect">
            <a:avLst/>
          </a:prstGeom>
          <a:noFill/>
          <a:ln/>
        </p:spPr>
        <p:txBody>
          <a:bodyPr wrap="square" lIns="0" tIns="0" rIns="0" bIns="0" rtlCol="0" anchor="t"/>
          <a:lstStyle/>
          <a:p>
            <a:pPr indent="0" marL="0">
              <a:lnSpc>
                <a:spcPct val="118000"/>
              </a:lnSpc>
              <a:buNone/>
            </a:pPr>
            <a:r>
              <a:rPr lang="en-US" sz="1350" dirty="0">
                <a:solidFill>
                  <a:schemeClr val="tx1"/>
                </a:solidFill>
              </a:rPr>
              <a:t>Molecular glues have been sitting in the PDB for thirty years, deposited by crystallographers who were solving something else and had no reason to label the ligand as one. BINMAN finds them by </a:t>
            </a:r>
            <a:pPr indent="0" marL="0">
              <a:lnSpc>
                <a:spcPct val="118000"/>
              </a:lnSpc>
              <a:buNone/>
            </a:pPr>
            <a:r>
              <a:rPr lang="en-US" sz="1350" b="1" dirty="0">
                <a:solidFill>
                  <a:schemeClr val="tx1"/>
                </a:solidFill>
              </a:rPr>
              <a:t>geometry rather than annotation</a:t>
            </a:r>
            <a:pPr indent="0" marL="0">
              <a:lnSpc>
                <a:spcPct val="118000"/>
              </a:lnSpc>
              <a:buNone/>
            </a:pPr>
            <a:r>
              <a:rPr lang="en-US" sz="1350" dirty="0">
                <a:solidFill>
                  <a:schemeClr val="tx1"/>
                </a:solidFill>
              </a:rPr>
              <a:t>: every non-polymer entity that buries meaningful surface against two or more protein chains at once. </a:t>
            </a:r>
            <a:pPr indent="0" marL="0">
              <a:lnSpc>
                <a:spcPct val="118000"/>
              </a:lnSpc>
              <a:buNone/>
            </a:pPr>
            <a:r>
              <a:rPr lang="en-US" sz="1350" b="1" dirty="0">
                <a:solidFill>
                  <a:schemeClr val="tx1"/>
                </a:solidFill>
              </a:rPr>
              <a:t>130,391</a:t>
            </a:r>
            <a:pPr indent="0" marL="0">
              <a:lnSpc>
                <a:spcPct val="118000"/>
              </a:lnSpc>
              <a:buNone/>
            </a:pPr>
            <a:r>
              <a:rPr lang="en-US" sz="1350" dirty="0">
                <a:solidFill>
                  <a:schemeClr val="tx1"/>
                </a:solidFill>
              </a:rPr>
              <a:t> entries catalogued, </a:t>
            </a:r>
            <a:pPr indent="0" marL="0">
              <a:lnSpc>
                <a:spcPct val="118000"/>
              </a:lnSpc>
              <a:buNone/>
            </a:pPr>
            <a:r>
              <a:rPr lang="en-US" sz="1350" b="1" dirty="0">
                <a:solidFill>
                  <a:schemeClr val="tx1"/>
                </a:solidFill>
              </a:rPr>
              <a:t>285,996</a:t>
            </a:r>
            <a:pPr indent="0" marL="0">
              <a:lnSpc>
                <a:spcPct val="118000"/>
              </a:lnSpc>
              <a:buNone/>
            </a:pPr>
            <a:r>
              <a:rPr lang="en-US" sz="1350" dirty="0">
                <a:solidFill>
                  <a:schemeClr val="tx1"/>
                </a:solidFill>
              </a:rPr>
              <a:t> bridges measured, </a:t>
            </a:r>
            <a:pPr indent="0" marL="0">
              <a:lnSpc>
                <a:spcPct val="118000"/>
              </a:lnSpc>
              <a:buNone/>
            </a:pPr>
            <a:r>
              <a:rPr lang="en-US" sz="1350" b="1" dirty="0">
                <a:solidFill>
                  <a:schemeClr val="tx1"/>
                </a:solidFill>
              </a:rPr>
              <a:t>15,804</a:t>
            </a:r>
            <a:pPr indent="0" marL="0">
              <a:lnSpc>
                <a:spcPct val="118000"/>
              </a:lnSpc>
              <a:buNone/>
            </a:pPr>
            <a:r>
              <a:rPr lang="en-US" sz="1350" dirty="0">
                <a:solidFill>
                  <a:schemeClr val="tx1"/>
                </a:solidFill>
              </a:rPr>
              <a:t> that no curated glue database lists.</a:t>
            </a:r>
            <a:endParaRPr lang="en-US" sz="1350" dirty="0"/>
          </a:p>
        </p:txBody>
      </p:sp>
      <p:pic>
        <p:nvPicPr>
          <p:cNvPr id="6" name="Image 0" descr="/Users/dellboy/Documents/Vibe_Coding/BINMAN/data/interim/deck/workflow.png">    </p:cNvPr>
          <p:cNvPicPr>
            <a:picLocks noChangeAspect="1"/>
          </p:cNvPicPr>
          <p:nvPr/>
        </p:nvPicPr>
        <p:blipFill>
          <a:blip r:embed="rId1"/>
          <a:stretch>
            <a:fillRect/>
          </a:stretch>
        </p:blipFill>
        <p:spPr>
          <a:xfrm>
            <a:off x="502920" y="2286000"/>
            <a:ext cx="11155680" cy="3566160"/>
          </a:xfrm>
          <a:prstGeom prst="rect">
            <a:avLst/>
          </a:prstGeom>
        </p:spPr>
      </p:pic>
      <p:sp>
        <p:nvSpPr>
          <p:cNvPr id="7" name="Text 4"/>
          <p:cNvSpPr txBox="1"/>
          <p:nvPr/>
        </p:nvSpPr>
        <p:spPr>
          <a:xfrm>
            <a:off x="502920" y="5980176"/>
            <a:ext cx="11155680" cy="310896"/>
          </a:xfrm>
          <a:prstGeom prst="rect">
            <a:avLst/>
          </a:prstGeom>
          <a:noFill/>
          <a:ln/>
        </p:spPr>
        <p:txBody>
          <a:bodyPr wrap="square" lIns="0" tIns="0" rIns="0" bIns="0" rtlCol="0" anchor="ctr"/>
          <a:lstStyle/>
          <a:p>
            <a:pPr indent="0" marL="0">
              <a:buNone/>
            </a:pPr>
            <a:r>
              <a:rPr lang="en-US" sz="1100" i="1" dirty="0">
                <a:solidFill>
                  <a:srgbClr val="61655F"/>
                </a:solidFill>
              </a:rPr>
              <a:t>Four stages, left to right, then the four modules that read the result. The trained layer underneath is one small language model that does the text work and none of the arithmetic.</a:t>
            </a:r>
            <a:endParaRPr lang="en-US" sz="1100" dirty="0"/>
          </a:p>
        </p:txBody>
      </p:sp>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chematic_lanes" descr="/Users/dellboy/Documents/Vibe_Coding/BINMAN/data/interim/deck/schematic_lanes.png">    </p:cNvPr>
          <p:cNvPicPr>
            <a:picLocks noChangeAspect="1"/>
          </p:cNvPicPr>
          <p:nvPr/>
        </p:nvPicPr>
        <p:blipFill>
          <a:blip r:embed="rId1"/>
          <a:stretch>
            <a:fillRect/>
          </a:stretch>
        </p:blipFill>
        <p:spPr>
          <a:xfrm>
            <a:off x="0" y="0"/>
            <a:ext cx="12191695" cy="6398057"/>
          </a:xfrm>
          <a:prstGeom prst="rect">
            <a:avLst/>
          </a:prstGeom>
        </p:spPr>
      </p:pic>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chematic_columns" descr="/Users/dellboy/Documents/Vibe_Coding/BINMAN/data/interim/deck/schematic_columns.png">    </p:cNvPr>
          <p:cNvPicPr>
            <a:picLocks noChangeAspect="1"/>
          </p:cNvPicPr>
          <p:nvPr/>
        </p:nvPicPr>
        <p:blipFill>
          <a:blip r:embed="rId1"/>
          <a:stretch>
            <a:fillRect/>
          </a:stretch>
        </p:blipFill>
        <p:spPr>
          <a:xfrm>
            <a:off x="0" y="0"/>
            <a:ext cx="12191695" cy="6398057"/>
          </a:xfrm>
          <a:prstGeom prst="rect">
            <a:avLst/>
          </a:prstGeom>
        </p:spPr>
      </p:pic>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chematic_imports" descr="/Users/dellboy/Documents/Vibe_Coding/BINMAN/data/interim/deck/schematic_imports.png">    </p:cNvPr>
          <p:cNvPicPr>
            <a:picLocks noChangeAspect="1"/>
          </p:cNvPicPr>
          <p:nvPr/>
        </p:nvPicPr>
        <p:blipFill>
          <a:blip r:embed="rId1"/>
          <a:stretch>
            <a:fillRect/>
          </a:stretch>
        </p:blipFill>
        <p:spPr>
          <a:xfrm>
            <a:off x="0" y="0"/>
            <a:ext cx="12191695" cy="6398057"/>
          </a:xfrm>
          <a:prstGeom prst="rect">
            <a:avLst/>
          </a:prstGeom>
        </p:spPr>
      </p:pic>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chematic_machines" descr="/Users/dellboy/Documents/Vibe_Coding/BINMAN/data/interim/deck/schematic_machines.png">    </p:cNvPr>
          <p:cNvPicPr>
            <a:picLocks noChangeAspect="1"/>
          </p:cNvPicPr>
          <p:nvPr/>
        </p:nvPicPr>
        <p:blipFill>
          <a:blip r:embed="rId1"/>
          <a:stretch>
            <a:fillRect/>
          </a:stretch>
        </p:blipFill>
        <p:spPr>
          <a:xfrm>
            <a:off x="0" y="0"/>
            <a:ext cx="12191695" cy="6398057"/>
          </a:xfrm>
          <a:prstGeom prst="rect">
            <a:avLst/>
          </a:prstGeom>
        </p:spPr>
      </p:pic>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chematic_spine" descr="/Users/dellboy/Documents/Vibe_Coding/BINMAN/data/interim/deck/schematic_spine.png">    </p:cNvPr>
          <p:cNvPicPr>
            <a:picLocks noChangeAspect="1"/>
          </p:cNvPicPr>
          <p:nvPr/>
        </p:nvPicPr>
        <p:blipFill>
          <a:blip r:embed="rId1"/>
          <a:stretch>
            <a:fillRect/>
          </a:stretch>
        </p:blipFill>
        <p:spPr>
          <a:xfrm>
            <a:off x="0" y="0"/>
            <a:ext cx="12191695" cy="6398057"/>
          </a:xfrm>
          <a:prstGeom prst="rect">
            <a:avLst/>
          </a:prstGeom>
        </p:spPr>
      </p:pic>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hip-1"/>
          <p:cNvSpPr/>
          <p:nvPr/>
        </p:nvSpPr>
        <p:spPr>
          <a:xfrm>
            <a:off x="502920" y="493776"/>
            <a:ext cx="475488" cy="475488"/>
          </a:xfrm>
          <a:prstGeom prst="roundRect">
            <a:avLst>
              <a:gd name="adj" fmla="val 19231"/>
            </a:avLst>
          </a:prstGeom>
          <a:solidFill>
            <a:srgbClr val="A64708"/>
          </a:solidFill>
          <a:ln w="12700">
            <a:solidFill>
              <a:srgbClr val="A64708"/>
            </a:solidFill>
            <a:prstDash val="solid"/>
          </a:ln>
        </p:spPr>
      </p:sp>
      <p:sp>
        <p:nvSpPr>
          <p:cNvPr id="3" name="Text 1"/>
          <p:cNvSpPr txBox="1"/>
          <p:nvPr/>
        </p:nvSpPr>
        <p:spPr>
          <a:xfrm>
            <a:off x="502920" y="4937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4" name="Text 2"/>
          <p:cNvSpPr txBox="1"/>
          <p:nvPr/>
        </p:nvSpPr>
        <p:spPr>
          <a:xfrm>
            <a:off x="1161288" y="457200"/>
            <a:ext cx="10497312"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Acquisition</a:t>
            </a:r>
            <a:endParaRPr lang="en-US" sz="3200" dirty="0"/>
          </a:p>
        </p:txBody>
      </p:sp>
      <p:sp>
        <p:nvSpPr>
          <p:cNvPr id="5" name="Text 3"/>
          <p:cNvSpPr txBox="1"/>
          <p:nvPr/>
        </p:nvSpPr>
        <p:spPr>
          <a:xfrm>
            <a:off x="502920" y="1133856"/>
            <a:ext cx="11155680" cy="384048"/>
          </a:xfrm>
          <a:prstGeom prst="rect">
            <a:avLst/>
          </a:prstGeom>
          <a:noFill/>
          <a:ln/>
        </p:spPr>
        <p:txBody>
          <a:bodyPr wrap="square" lIns="0" tIns="0" rIns="0" bIns="0" rtlCol="0" anchor="ctr"/>
          <a:lstStyle/>
          <a:p>
            <a:pPr indent="0" marL="0">
              <a:buNone/>
            </a:pPr>
            <a:r>
              <a:rPr lang="en-US" sz="1450" i="1" dirty="0">
                <a:solidFill>
                  <a:srgbClr val="A64708"/>
                </a:solidFill>
              </a:rPr>
              <a:t>You cannot search the PDB for “molecular glue”. There is no such field.</a:t>
            </a:r>
            <a:endParaRPr lang="en-US" sz="1450" dirty="0"/>
          </a:p>
        </p:txBody>
      </p:sp>
      <p:sp>
        <p:nvSpPr>
          <p:cNvPr id="6" name="Text 4"/>
          <p:cNvSpPr txBox="1"/>
          <p:nvPr/>
        </p:nvSpPr>
        <p:spPr>
          <a:xfrm>
            <a:off x="502920" y="1627632"/>
            <a:ext cx="6858000" cy="2240280"/>
          </a:xfrm>
          <a:prstGeom prst="rect">
            <a:avLst/>
          </a:prstGeom>
          <a:noFill/>
          <a:ln/>
        </p:spPr>
        <p:txBody>
          <a:bodyPr wrap="square" lIns="0" tIns="0" rIns="0" bIns="0" rtlCol="0" anchor="t"/>
          <a:lstStyle/>
          <a:p>
            <a:pPr indent="0" marL="0">
              <a:lnSpc>
                <a:spcPct val="118000"/>
              </a:lnSpc>
              <a:buNone/>
            </a:pPr>
            <a:r>
              <a:rPr lang="en-US" sz="1350" b="1" dirty="0">
                <a:solidFill>
                  <a:schemeClr val="tx1"/>
                </a:solidFill>
              </a:rPr>
              <a:t>The science.</a:t>
            </a:r>
            <a:pPr indent="0" marL="0">
              <a:lnSpc>
                <a:spcPct val="118000"/>
              </a:lnSpc>
              <a:buNone/>
            </a:pPr>
            <a:r>
              <a:rPr lang="en-US" sz="1350" dirty="0">
                <a:solidFill>
                  <a:schemeClr val="tx1"/>
                </a:solidFill>
              </a:rPr>
              <a:t> A glue is only recognisable once you have measured it, so the catalogue cannot be filtered by annotation. The only honest starting set is every entry that </a:t>
            </a:r>
            <a:pPr indent="0" marL="0">
              <a:lnSpc>
                <a:spcPct val="118000"/>
              </a:lnSpc>
              <a:buNone/>
            </a:pPr>
            <a:r>
              <a:rPr lang="en-US" sz="1350" dirty="0">
                <a:solidFill>
                  <a:schemeClr val="tx1"/>
                </a:solidFill>
              </a:rPr>
              <a:t>could</a:t>
            </a:r>
            <a:pPr indent="0" marL="0">
              <a:lnSpc>
                <a:spcPct val="118000"/>
              </a:lnSpc>
              <a:buNone/>
            </a:pPr>
            <a:r>
              <a:rPr lang="en-US" sz="1350" dirty="0">
                <a:solidFill>
                  <a:schemeClr val="tx1"/>
                </a:solidFill>
              </a:rPr>
              <a:t> hold one: at least two polymer chains for a ligand to bridge, and at least one non-polymer entity to do the bridging.</a:t>
            </a:r>
            <a:endParaRPr lang="en-US" sz="1350" dirty="0"/>
          </a:p>
          <a:p>
            <a:pPr algn="r" indent="0" marL="0">
              <a:lnSpc>
                <a:spcPct val="118000"/>
              </a:lnSpc>
              <a:buNone/>
            </a:pPr>
            <a:endParaRPr lang="en-US" sz="1350" dirty="0"/>
          </a:p>
          <a:p>
            <a:pPr algn="r" indent="0" marL="0">
              <a:lnSpc>
                <a:spcPct val="118000"/>
              </a:lnSpc>
              <a:buNone/>
            </a:pPr>
            <a:endParaRPr lang="en-US" sz="1350" dirty="0"/>
          </a:p>
          <a:p>
            <a:pPr indent="0" marL="0">
              <a:lnSpc>
                <a:spcPct val="118000"/>
              </a:lnSpc>
              <a:buNone/>
            </a:pPr>
            <a:r>
              <a:rPr lang="en-US" sz="1350" b="1" dirty="0">
                <a:solidFill>
                  <a:schemeClr val="tx1"/>
                </a:solidFill>
              </a:rPr>
              <a:t>How the code does it.</a:t>
            </a:r>
            <a:pPr indent="0" marL="0">
              <a:lnSpc>
                <a:spcPct val="118000"/>
              </a:lnSpc>
              <a:buNone/>
            </a:pPr>
            <a:r>
              <a:rPr lang="en-US" sz="1350" dirty="0">
                <a:solidFill>
                  <a:schemeClr val="tx1"/>
                </a:solidFill>
              </a:rPr>
              <a:t> </a:t>
            </a:r>
            <a:pPr indent="0" marL="0">
              <a:lnSpc>
                <a:spcPct val="118000"/>
              </a:lnSpc>
              <a:buNone/>
            </a:pPr>
            <a:r>
              <a:rPr lang="en-US" sz="1150" dirty="0">
                <a:solidFill>
                  <a:schemeClr val="tx1"/>
                </a:solidFill>
                <a:latin typeface="Courier New" pitchFamily="34" charset="0"/>
                <a:ea typeface="Courier New" pitchFamily="34" charset="-122"/>
                <a:cs typeface="Courier New" pitchFamily="34" charset="-120"/>
              </a:rPr>
              <a:t>pipeline/catalogue.py</a:t>
            </a:r>
            <a:pPr indent="0" marL="0">
              <a:lnSpc>
                <a:spcPct val="118000"/>
              </a:lnSpc>
              <a:buNone/>
            </a:pPr>
            <a:r>
              <a:rPr lang="en-US" sz="1350" dirty="0">
                <a:solidFill>
                  <a:schemeClr val="tx1"/>
                </a:solidFill>
              </a:rPr>
              <a:t> asks the RCSB Search API that question and pages through the answer. Each entry is sorted into one of four tiers by how likely it is to matter, then </a:t>
            </a:r>
            <a:pPr indent="0" marL="0">
              <a:lnSpc>
                <a:spcPct val="118000"/>
              </a:lnSpc>
              <a:buNone/>
            </a:pPr>
            <a:r>
              <a:rPr lang="en-US" sz="1150" dirty="0">
                <a:solidFill>
                  <a:schemeClr val="tx1"/>
                </a:solidFill>
                <a:latin typeface="Courier New" pitchFamily="34" charset="0"/>
                <a:ea typeface="Courier New" pitchFamily="34" charset="-122"/>
                <a:cs typeface="Courier New" pitchFamily="34" charset="-120"/>
              </a:rPr>
              <a:t>pipeline/rcsb.py</a:t>
            </a:r>
            <a:pPr indent="0" marL="0">
              <a:lnSpc>
                <a:spcPct val="118000"/>
              </a:lnSpc>
              <a:buNone/>
            </a:pPr>
            <a:r>
              <a:rPr lang="en-US" sz="1350" dirty="0">
                <a:solidFill>
                  <a:schemeClr val="tx1"/>
                </a:solidFill>
              </a:rPr>
              <a:t> downloads its biological assembly and caches it on disk, so the download happens once and never again.</a:t>
            </a:r>
            <a:endParaRPr lang="en-US" sz="1350" dirty="0"/>
          </a:p>
        </p:txBody>
      </p:sp>
      <p:sp>
        <p:nvSpPr>
          <p:cNvPr id="7" name="card"/>
          <p:cNvSpPr/>
          <p:nvPr/>
        </p:nvSpPr>
        <p:spPr>
          <a:xfrm>
            <a:off x="502920" y="3986784"/>
            <a:ext cx="6858000" cy="1417320"/>
          </a:xfrm>
          <a:prstGeom prst="roundRect">
            <a:avLst>
              <a:gd name="adj" fmla="val 2581"/>
            </a:avLst>
          </a:prstGeom>
          <a:solidFill>
            <a:srgbClr val="E9EAE5"/>
          </a:solidFill>
          <a:ln w="12700">
            <a:solidFill>
              <a:srgbClr val="E9EAE5"/>
            </a:solidFill>
            <a:prstDash val="solid"/>
          </a:ln>
        </p:spPr>
      </p:sp>
      <p:sp>
        <p:nvSpPr>
          <p:cNvPr id="8" name="Text 6"/>
          <p:cNvSpPr txBox="1"/>
          <p:nvPr/>
        </p:nvSpPr>
        <p:spPr>
          <a:xfrm>
            <a:off x="740664" y="4151376"/>
            <a:ext cx="638251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WHY A NON-CODER SHOULD CARE</a:t>
            </a:r>
            <a:endParaRPr lang="en-US" sz="1100" dirty="0"/>
          </a:p>
        </p:txBody>
      </p:sp>
      <p:sp>
        <p:nvSpPr>
          <p:cNvPr id="9" name="Text 7"/>
          <p:cNvSpPr txBox="1"/>
          <p:nvPr/>
        </p:nvSpPr>
        <p:spPr>
          <a:xfrm>
            <a:off x="740664" y="4462272"/>
            <a:ext cx="6382512" cy="758952"/>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Every stage appends one line per item to a manifest file saying what happened to it. Kill the run halfway and it resumes from the manifest rather than starting again. It also means nothing fails silently: a failure is a recorded row, not an absence.</a:t>
            </a:r>
            <a:endParaRPr lang="en-US" sz="1250" dirty="0"/>
          </a:p>
        </p:txBody>
      </p:sp>
      <p:sp>
        <p:nvSpPr>
          <p:cNvPr id="10" name="card"/>
          <p:cNvSpPr/>
          <p:nvPr/>
        </p:nvSpPr>
        <p:spPr>
          <a:xfrm>
            <a:off x="7726680" y="1682496"/>
            <a:ext cx="3931920" cy="2103120"/>
          </a:xfrm>
          <a:prstGeom prst="roundRect">
            <a:avLst>
              <a:gd name="adj" fmla="val 1739"/>
            </a:avLst>
          </a:prstGeom>
          <a:solidFill>
            <a:srgbClr val="E9EAE5"/>
          </a:solidFill>
          <a:ln w="12700">
            <a:solidFill>
              <a:srgbClr val="E9EAE5"/>
            </a:solidFill>
            <a:prstDash val="solid"/>
          </a:ln>
        </p:spPr>
      </p:sp>
      <p:sp>
        <p:nvSpPr>
          <p:cNvPr id="11" name="Text 9"/>
          <p:cNvSpPr txBox="1"/>
          <p:nvPr/>
        </p:nvSpPr>
        <p:spPr>
          <a:xfrm>
            <a:off x="7964424" y="1847088"/>
            <a:ext cx="345643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SOFTWARE</a:t>
            </a:r>
            <a:endParaRPr lang="en-US" sz="1100" dirty="0"/>
          </a:p>
        </p:txBody>
      </p:sp>
      <p:sp>
        <p:nvSpPr>
          <p:cNvPr id="12" name="Text 10"/>
          <p:cNvSpPr txBox="1"/>
          <p:nvPr/>
        </p:nvSpPr>
        <p:spPr>
          <a:xfrm>
            <a:off x="7964424" y="2157984"/>
            <a:ext cx="3456432" cy="1444752"/>
          </a:xfrm>
          <a:prstGeom prst="rect">
            <a:avLst/>
          </a:prstGeom>
          <a:noFill/>
          <a:ln/>
        </p:spPr>
        <p:txBody>
          <a:bodyPr wrap="square" lIns="0" tIns="0" rIns="0" bIns="0" rtlCol="0" anchor="t"/>
          <a:lstStyle/>
          <a:p>
            <a:pPr indent="0" marL="0">
              <a:spcAft>
                <a:spcPts val="500"/>
              </a:spcAft>
              <a:buNone/>
            </a:pPr>
            <a:r>
              <a:rPr lang="en-US" sz="1250" b="1" dirty="0">
                <a:solidFill>
                  <a:schemeClr val="tx1"/>
                </a:solidFill>
              </a:rPr>
              <a:t>httpx</a:t>
            </a:r>
            <a:endParaRPr lang="en-US" sz="1250" dirty="0"/>
          </a:p>
          <a:p>
            <a:pPr indent="0" marL="0">
              <a:spcAft>
                <a:spcPts val="500"/>
              </a:spcAft>
              <a:buNone/>
            </a:pPr>
            <a:r>
              <a:rPr lang="en-US" sz="1250" dirty="0">
                <a:solidFill>
                  <a:schemeClr val="tx1"/>
                </a:solidFill>
              </a:rPr>
              <a:t>HTTP with connection pooling</a:t>
            </a:r>
            <a:endParaRPr lang="en-US" sz="1250" dirty="0"/>
          </a:p>
          <a:p>
            <a:pPr indent="0" marL="0">
              <a:spcAft>
                <a:spcPts val="500"/>
              </a:spcAft>
              <a:buNone/>
            </a:pPr>
            <a:r>
              <a:rPr lang="en-US" sz="1250" b="1" dirty="0">
                <a:solidFill>
                  <a:schemeClr val="tx1"/>
                </a:solidFill>
              </a:rPr>
              <a:t>tenacity</a:t>
            </a:r>
            <a:endParaRPr lang="en-US" sz="1250" dirty="0"/>
          </a:p>
          <a:p>
            <a:pPr indent="0" marL="0">
              <a:spcAft>
                <a:spcPts val="500"/>
              </a:spcAft>
              <a:buNone/>
            </a:pPr>
            <a:r>
              <a:rPr lang="en-US" sz="1250" dirty="0">
                <a:solidFill>
                  <a:schemeClr val="tx1"/>
                </a:solidFill>
              </a:rPr>
              <a:t>retry with backoff, so a flaky API does not lose a run</a:t>
            </a:r>
            <a:endParaRPr lang="en-US" sz="1250" dirty="0"/>
          </a:p>
          <a:p>
            <a:pPr indent="0" marL="0">
              <a:spcAft>
                <a:spcPts val="500"/>
              </a:spcAft>
              <a:buNone/>
            </a:pPr>
            <a:r>
              <a:rPr lang="en-US" sz="1250" b="1" dirty="0">
                <a:solidFill>
                  <a:schemeClr val="tx1"/>
                </a:solidFill>
              </a:rPr>
              <a:t>RCSB Search + File APIs</a:t>
            </a:r>
            <a:endParaRPr lang="en-US" sz="1250" dirty="0"/>
          </a:p>
          <a:p>
            <a:pPr indent="0" marL="0">
              <a:spcAft>
                <a:spcPts val="500"/>
              </a:spcAft>
              <a:buNone/>
            </a:pPr>
            <a:r>
              <a:rPr lang="en-US" sz="1250" dirty="0">
                <a:solidFill>
                  <a:schemeClr val="tx1"/>
                </a:solidFill>
              </a:rPr>
              <a:t>the public PDB services</a:t>
            </a:r>
            <a:endParaRPr lang="en-US" sz="1250" dirty="0"/>
          </a:p>
        </p:txBody>
      </p:sp>
      <p:sp>
        <p:nvSpPr>
          <p:cNvPr id="13" name="Text 11"/>
          <p:cNvSpPr txBox="1"/>
          <p:nvPr/>
        </p:nvSpPr>
        <p:spPr>
          <a:xfrm>
            <a:off x="7726680" y="3968496"/>
            <a:ext cx="1920240" cy="512064"/>
          </a:xfrm>
          <a:prstGeom prst="rect">
            <a:avLst/>
          </a:prstGeom>
          <a:noFill/>
          <a:ln/>
        </p:spPr>
        <p:txBody>
          <a:bodyPr wrap="square" lIns="0" tIns="0" rIns="0" bIns="0" rtlCol="0" anchor="ctr"/>
          <a:lstStyle/>
          <a:p>
            <a:pPr indent="0" marL="0">
              <a:buNone/>
            </a:pPr>
            <a:r>
              <a:rPr lang="en-US" sz="3000" b="1" dirty="0">
                <a:solidFill>
                  <a:srgbClr val="A64708"/>
                </a:solidFill>
                <a:latin typeface="Cambria" pitchFamily="34" charset="0"/>
                <a:ea typeface="Cambria" pitchFamily="34" charset="-122"/>
                <a:cs typeface="Cambria" pitchFamily="34" charset="-120"/>
              </a:rPr>
              <a:t>130,391</a:t>
            </a:r>
            <a:endParaRPr lang="en-US" sz="3000" dirty="0"/>
          </a:p>
        </p:txBody>
      </p:sp>
      <p:sp>
        <p:nvSpPr>
          <p:cNvPr id="14" name="Text 12"/>
          <p:cNvSpPr txBox="1"/>
          <p:nvPr/>
        </p:nvSpPr>
        <p:spPr>
          <a:xfrm>
            <a:off x="7726680" y="4462272"/>
            <a:ext cx="1920240" cy="457200"/>
          </a:xfrm>
          <a:prstGeom prst="rect">
            <a:avLst/>
          </a:prstGeom>
          <a:noFill/>
          <a:ln/>
        </p:spPr>
        <p:txBody>
          <a:bodyPr wrap="square" lIns="0" tIns="0" rIns="0" bIns="0" rtlCol="0" anchor="t"/>
          <a:lstStyle/>
          <a:p>
            <a:pPr indent="0" marL="0">
              <a:buNone/>
            </a:pPr>
            <a:r>
              <a:rPr lang="en-US" sz="1050" dirty="0">
                <a:solidFill>
                  <a:srgbClr val="61655F"/>
                </a:solidFill>
              </a:rPr>
              <a:t>entries catalogued</a:t>
            </a:r>
            <a:endParaRPr lang="en-US" sz="1050" dirty="0"/>
          </a:p>
        </p:txBody>
      </p:sp>
      <p:sp>
        <p:nvSpPr>
          <p:cNvPr id="15" name="Text 13"/>
          <p:cNvSpPr txBox="1"/>
          <p:nvPr/>
        </p:nvSpPr>
        <p:spPr>
          <a:xfrm>
            <a:off x="9966960" y="3968496"/>
            <a:ext cx="1645920" cy="512064"/>
          </a:xfrm>
          <a:prstGeom prst="rect">
            <a:avLst/>
          </a:prstGeom>
          <a:noFill/>
          <a:ln/>
        </p:spPr>
        <p:txBody>
          <a:bodyPr wrap="square" lIns="0" tIns="0" rIns="0" bIns="0" rtlCol="0" anchor="ctr"/>
          <a:lstStyle/>
          <a:p>
            <a:pPr indent="0" marL="0">
              <a:buNone/>
            </a:pPr>
            <a:r>
              <a:rPr lang="en-US" sz="3000" b="1" dirty="0">
                <a:solidFill>
                  <a:srgbClr val="2C6D60"/>
                </a:solidFill>
                <a:latin typeface="Cambria" pitchFamily="34" charset="0"/>
                <a:ea typeface="Cambria" pitchFamily="34" charset="-122"/>
                <a:cs typeface="Cambria" pitchFamily="34" charset="-120"/>
              </a:rPr>
              <a:t>0</a:t>
            </a:r>
            <a:endParaRPr lang="en-US" sz="3000" dirty="0"/>
          </a:p>
        </p:txBody>
      </p:sp>
      <p:sp>
        <p:nvSpPr>
          <p:cNvPr id="16" name="Text 14"/>
          <p:cNvSpPr txBox="1"/>
          <p:nvPr/>
        </p:nvSpPr>
        <p:spPr>
          <a:xfrm>
            <a:off x="9966960" y="4462272"/>
            <a:ext cx="1645920" cy="457200"/>
          </a:xfrm>
          <a:prstGeom prst="rect">
            <a:avLst/>
          </a:prstGeom>
          <a:noFill/>
          <a:ln/>
        </p:spPr>
        <p:txBody>
          <a:bodyPr wrap="square" lIns="0" tIns="0" rIns="0" bIns="0" rtlCol="0" anchor="t"/>
          <a:lstStyle/>
          <a:p>
            <a:pPr indent="0" marL="0">
              <a:buNone/>
            </a:pPr>
            <a:r>
              <a:rPr lang="en-US" sz="1050" dirty="0">
                <a:solidFill>
                  <a:srgbClr val="61655F"/>
                </a:solidFill>
              </a:rPr>
              <a:t>failed</a:t>
            </a:r>
            <a:endParaRPr lang="en-US" sz="1050" dirty="0"/>
          </a:p>
        </p:txBody>
      </p:sp>
      <p:sp>
        <p:nvSpPr>
          <p:cNvPr id="17" name="card"/>
          <p:cNvSpPr/>
          <p:nvPr/>
        </p:nvSpPr>
        <p:spPr>
          <a:xfrm>
            <a:off x="7726680" y="4901184"/>
            <a:ext cx="3931920" cy="1060704"/>
          </a:xfrm>
          <a:prstGeom prst="roundRect">
            <a:avLst>
              <a:gd name="adj" fmla="val 3448"/>
            </a:avLst>
          </a:prstGeom>
          <a:solidFill>
            <a:srgbClr val="E9EAE5"/>
          </a:solidFill>
          <a:ln w="12700">
            <a:solidFill>
              <a:srgbClr val="E9EAE5"/>
            </a:solidFill>
            <a:prstDash val="solid"/>
          </a:ln>
        </p:spPr>
      </p:sp>
      <p:sp>
        <p:nvSpPr>
          <p:cNvPr id="18" name="Text 16"/>
          <p:cNvSpPr txBox="1"/>
          <p:nvPr/>
        </p:nvSpPr>
        <p:spPr>
          <a:xfrm>
            <a:off x="7964424" y="5065776"/>
            <a:ext cx="345643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TIERS</a:t>
            </a:r>
            <a:endParaRPr lang="en-US" sz="1100" dirty="0"/>
          </a:p>
        </p:txBody>
      </p:sp>
      <p:sp>
        <p:nvSpPr>
          <p:cNvPr id="19" name="Text 17"/>
          <p:cNvSpPr txBox="1"/>
          <p:nvPr/>
        </p:nvSpPr>
        <p:spPr>
          <a:xfrm>
            <a:off x="7964424" y="5376672"/>
            <a:ext cx="3456432" cy="402336"/>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tier 1 · 3,871      tier 2 · 34,222</a:t>
            </a:r>
            <a:endParaRPr lang="en-US" sz="1250" dirty="0"/>
          </a:p>
          <a:p>
            <a:pPr indent="0" marL="0">
              <a:spcAft>
                <a:spcPts val="500"/>
              </a:spcAft>
              <a:buNone/>
            </a:pPr>
            <a:r>
              <a:rPr lang="en-US" sz="1250" dirty="0">
                <a:solidFill>
                  <a:schemeClr val="tx1"/>
                </a:solidFill>
              </a:rPr>
              <a:t>tier 3 · 17,375    tier 4 · 74,923</a:t>
            </a:r>
            <a:endParaRPr lang="en-US" sz="1250" dirty="0"/>
          </a:p>
        </p:txBody>
      </p:sp>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hip-2"/>
          <p:cNvSpPr/>
          <p:nvPr/>
        </p:nvSpPr>
        <p:spPr>
          <a:xfrm>
            <a:off x="502920" y="493776"/>
            <a:ext cx="475488" cy="475488"/>
          </a:xfrm>
          <a:prstGeom prst="roundRect">
            <a:avLst>
              <a:gd name="adj" fmla="val 19231"/>
            </a:avLst>
          </a:prstGeom>
          <a:solidFill>
            <a:srgbClr val="A64708"/>
          </a:solidFill>
          <a:ln w="12700">
            <a:solidFill>
              <a:srgbClr val="A64708"/>
            </a:solidFill>
            <a:prstDash val="solid"/>
          </a:ln>
        </p:spPr>
      </p:sp>
      <p:sp>
        <p:nvSpPr>
          <p:cNvPr id="3" name="Text 1"/>
          <p:cNvSpPr txBox="1"/>
          <p:nvPr/>
        </p:nvSpPr>
        <p:spPr>
          <a:xfrm>
            <a:off x="502920" y="4937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4" name="Text 2"/>
          <p:cNvSpPr txBox="1"/>
          <p:nvPr/>
        </p:nvSpPr>
        <p:spPr>
          <a:xfrm>
            <a:off x="1161288" y="457200"/>
            <a:ext cx="10497312"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Geometry</a:t>
            </a:r>
            <a:endParaRPr lang="en-US" sz="3200" dirty="0"/>
          </a:p>
        </p:txBody>
      </p:sp>
      <p:sp>
        <p:nvSpPr>
          <p:cNvPr id="5" name="Text 3"/>
          <p:cNvSpPr txBox="1"/>
          <p:nvPr/>
        </p:nvSpPr>
        <p:spPr>
          <a:xfrm>
            <a:off x="502920" y="1133856"/>
            <a:ext cx="11155680" cy="384048"/>
          </a:xfrm>
          <a:prstGeom prst="rect">
            <a:avLst/>
          </a:prstGeom>
          <a:noFill/>
          <a:ln/>
        </p:spPr>
        <p:txBody>
          <a:bodyPr wrap="square" lIns="0" tIns="0" rIns="0" bIns="0" rtlCol="0" anchor="ctr"/>
          <a:lstStyle/>
          <a:p>
            <a:pPr indent="0" marL="0">
              <a:buNone/>
            </a:pPr>
            <a:r>
              <a:rPr lang="en-US" sz="1450" i="1" dirty="0">
                <a:solidFill>
                  <a:srgbClr val="A64708"/>
                </a:solidFill>
              </a:rPr>
              <a:t>A glue is a geometric fact, not a label. So measure the fact.</a:t>
            </a:r>
            <a:endParaRPr lang="en-US" sz="1450" dirty="0"/>
          </a:p>
        </p:txBody>
      </p:sp>
      <p:sp>
        <p:nvSpPr>
          <p:cNvPr id="6" name="Text 4"/>
          <p:cNvSpPr txBox="1"/>
          <p:nvPr/>
        </p:nvSpPr>
        <p:spPr>
          <a:xfrm>
            <a:off x="502920" y="1627632"/>
            <a:ext cx="6858000" cy="3200400"/>
          </a:xfrm>
          <a:prstGeom prst="rect">
            <a:avLst/>
          </a:prstGeom>
          <a:noFill/>
          <a:ln/>
        </p:spPr>
        <p:txBody>
          <a:bodyPr wrap="square" lIns="0" tIns="0" rIns="0" bIns="0" rtlCol="0" anchor="t"/>
          <a:lstStyle/>
          <a:p>
            <a:pPr indent="0" marL="0">
              <a:lnSpc>
                <a:spcPct val="118000"/>
              </a:lnSpc>
              <a:buNone/>
            </a:pPr>
            <a:r>
              <a:rPr lang="en-US" sz="1350" b="1" dirty="0">
                <a:solidFill>
                  <a:schemeClr val="tx1"/>
                </a:solidFill>
              </a:rPr>
              <a:t>The science.</a:t>
            </a:r>
            <a:pPr indent="0" marL="0">
              <a:lnSpc>
                <a:spcPct val="118000"/>
              </a:lnSpc>
              <a:buNone/>
            </a:pPr>
            <a:r>
              <a:rPr lang="en-US" sz="1350" dirty="0">
                <a:solidFill>
                  <a:schemeClr val="tx1"/>
                </a:solidFill>
              </a:rPr>
              <a:t> A ligand that glues two proteins together buries surface against both of them at once. That is measurable and it needs no opinion: </a:t>
            </a:r>
            <a:pPr indent="0" marL="0">
              <a:lnSpc>
                <a:spcPct val="118000"/>
              </a:lnSpc>
              <a:buNone/>
            </a:pPr>
            <a:r>
              <a:rPr lang="en-US" sz="1350" b="1" dirty="0">
                <a:solidFill>
                  <a:schemeClr val="tx1"/>
                </a:solidFill>
              </a:rPr>
              <a:t>ΔSASA = SASA(ligand) + SASA(chain) − SASA(the two together)</a:t>
            </a:r>
            <a:pPr indent="0" marL="0">
              <a:lnSpc>
                <a:spcPct val="118000"/>
              </a:lnSpc>
              <a:buNone/>
            </a:pPr>
            <a:r>
              <a:rPr lang="en-US" sz="1350" dirty="0">
                <a:solidFill>
                  <a:schemeClr val="tx1"/>
                </a:solidFill>
              </a:rPr>
              <a:t>, computed separately against each chain.</a:t>
            </a:r>
            <a:endParaRPr lang="en-US" sz="1350" dirty="0"/>
          </a:p>
          <a:p>
            <a:pPr algn="r" indent="0" marL="0">
              <a:lnSpc>
                <a:spcPct val="118000"/>
              </a:lnSpc>
              <a:buNone/>
            </a:pPr>
            <a:endParaRPr lang="en-US" sz="1350" dirty="0"/>
          </a:p>
          <a:p>
            <a:pPr algn="r" indent="0" marL="0">
              <a:lnSpc>
                <a:spcPct val="118000"/>
              </a:lnSpc>
              <a:buNone/>
            </a:pPr>
            <a:endParaRPr lang="en-US" sz="1350" dirty="0"/>
          </a:p>
          <a:p>
            <a:pPr indent="0" marL="0">
              <a:lnSpc>
                <a:spcPct val="118000"/>
              </a:lnSpc>
              <a:buNone/>
            </a:pPr>
            <a:r>
              <a:rPr lang="en-US" sz="1350" b="1" dirty="0">
                <a:solidFill>
                  <a:schemeClr val="tx1"/>
                </a:solidFill>
              </a:rPr>
              <a:t>Bridging balance</a:t>
            </a:r>
            <a:pPr indent="0" marL="0">
              <a:lnSpc>
                <a:spcPct val="118000"/>
              </a:lnSpc>
              <a:buNone/>
            </a:pPr>
            <a:r>
              <a:rPr lang="en-US" sz="1350" dirty="0">
                <a:solidFill>
                  <a:schemeClr val="tx1"/>
                </a:solidFill>
              </a:rPr>
              <a:t> is the smaller buried area over the larger. Near 1.0 the ligand sits squarely between the two chains. Near 0 it is bound to one and brushing the other.</a:t>
            </a:r>
            <a:endParaRPr lang="en-US" sz="1350" dirty="0"/>
          </a:p>
          <a:p>
            <a:pPr algn="r" indent="0" marL="0">
              <a:lnSpc>
                <a:spcPct val="118000"/>
              </a:lnSpc>
              <a:buNone/>
            </a:pPr>
            <a:endParaRPr lang="en-US" sz="1350" dirty="0"/>
          </a:p>
          <a:p>
            <a:pPr algn="r" indent="0" marL="0">
              <a:lnSpc>
                <a:spcPct val="118000"/>
              </a:lnSpc>
              <a:buNone/>
            </a:pPr>
            <a:endParaRPr lang="en-US" sz="1350" dirty="0"/>
          </a:p>
          <a:p>
            <a:pPr indent="0" marL="0">
              <a:lnSpc>
                <a:spcPct val="118000"/>
              </a:lnSpc>
              <a:buNone/>
            </a:pPr>
            <a:r>
              <a:rPr lang="en-US" sz="1350" b="1" dirty="0">
                <a:solidFill>
                  <a:schemeClr val="tx1"/>
                </a:solidFill>
              </a:rPr>
              <a:t>How the code does it.</a:t>
            </a:r>
            <a:pPr indent="0" marL="0">
              <a:lnSpc>
                <a:spcPct val="118000"/>
              </a:lnSpc>
              <a:buNone/>
            </a:pPr>
            <a:r>
              <a:rPr lang="en-US" sz="1350" dirty="0">
                <a:solidFill>
                  <a:schemeClr val="tx1"/>
                </a:solidFill>
              </a:rPr>
              <a:t> gemmi parses the assembly into chains and ligand instances, FreeSASA does the surface arithmetic, PLIP types the contacts at both half-interfaces. Symmetry copies are excluded, so a crystal contact cannot pose as a complex.</a:t>
            </a:r>
            <a:endParaRPr lang="en-US" sz="1350" dirty="0"/>
          </a:p>
        </p:txBody>
      </p:sp>
      <p:sp>
        <p:nvSpPr>
          <p:cNvPr id="7" name="card"/>
          <p:cNvSpPr/>
          <p:nvPr/>
        </p:nvSpPr>
        <p:spPr>
          <a:xfrm>
            <a:off x="502920" y="4773168"/>
            <a:ext cx="6858000" cy="1188720"/>
          </a:xfrm>
          <a:prstGeom prst="roundRect">
            <a:avLst>
              <a:gd name="adj" fmla="val 3077"/>
            </a:avLst>
          </a:prstGeom>
          <a:solidFill>
            <a:srgbClr val="E9EAE5"/>
          </a:solidFill>
          <a:ln w="12700">
            <a:solidFill>
              <a:srgbClr val="E9EAE5"/>
            </a:solidFill>
            <a:prstDash val="solid"/>
          </a:ln>
        </p:spPr>
      </p:sp>
      <p:sp>
        <p:nvSpPr>
          <p:cNvPr id="8" name="Text 6"/>
          <p:cNvSpPr txBox="1"/>
          <p:nvPr/>
        </p:nvSpPr>
        <p:spPr>
          <a:xfrm>
            <a:off x="740664" y="4937760"/>
            <a:ext cx="638251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THE RULE THAT KEEPS IT HONEST</a:t>
            </a:r>
            <a:endParaRPr lang="en-US" sz="1100" dirty="0"/>
          </a:p>
        </p:txBody>
      </p:sp>
      <p:sp>
        <p:nvSpPr>
          <p:cNvPr id="9" name="Text 7"/>
          <p:cNvSpPr txBox="1"/>
          <p:nvPr/>
        </p:nvSpPr>
        <p:spPr>
          <a:xfrm>
            <a:off x="740664" y="5248656"/>
            <a:ext cx="6382512" cy="530352"/>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Crystallisation furniture — PEG, buffers, cryoprotectants — is classified, not deleted, so the counts reconcile. Every cutoff lives in config/thresholds.toml and never in the Python.</a:t>
            </a:r>
            <a:endParaRPr lang="en-US" sz="1250" dirty="0"/>
          </a:p>
        </p:txBody>
      </p:sp>
      <p:sp>
        <p:nvSpPr>
          <p:cNvPr id="10" name="card"/>
          <p:cNvSpPr/>
          <p:nvPr/>
        </p:nvSpPr>
        <p:spPr>
          <a:xfrm>
            <a:off x="7726680" y="1682496"/>
            <a:ext cx="3931920" cy="2103120"/>
          </a:xfrm>
          <a:prstGeom prst="roundRect">
            <a:avLst>
              <a:gd name="adj" fmla="val 1739"/>
            </a:avLst>
          </a:prstGeom>
          <a:solidFill>
            <a:srgbClr val="E9EAE5"/>
          </a:solidFill>
          <a:ln w="12700">
            <a:solidFill>
              <a:srgbClr val="E9EAE5"/>
            </a:solidFill>
            <a:prstDash val="solid"/>
          </a:ln>
        </p:spPr>
      </p:sp>
      <p:sp>
        <p:nvSpPr>
          <p:cNvPr id="11" name="Text 9"/>
          <p:cNvSpPr txBox="1"/>
          <p:nvPr/>
        </p:nvSpPr>
        <p:spPr>
          <a:xfrm>
            <a:off x="7964424" y="1847088"/>
            <a:ext cx="345643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SOFTWARE</a:t>
            </a:r>
            <a:endParaRPr lang="en-US" sz="1100" dirty="0"/>
          </a:p>
        </p:txBody>
      </p:sp>
      <p:sp>
        <p:nvSpPr>
          <p:cNvPr id="12" name="Text 10"/>
          <p:cNvSpPr txBox="1"/>
          <p:nvPr/>
        </p:nvSpPr>
        <p:spPr>
          <a:xfrm>
            <a:off x="7964424" y="2157984"/>
            <a:ext cx="3456432" cy="1444752"/>
          </a:xfrm>
          <a:prstGeom prst="rect">
            <a:avLst/>
          </a:prstGeom>
          <a:noFill/>
          <a:ln/>
        </p:spPr>
        <p:txBody>
          <a:bodyPr wrap="square" lIns="0" tIns="0" rIns="0" bIns="0" rtlCol="0" anchor="t"/>
          <a:lstStyle/>
          <a:p>
            <a:pPr indent="0" marL="0">
              <a:spcAft>
                <a:spcPts val="500"/>
              </a:spcAft>
              <a:buNone/>
            </a:pPr>
            <a:r>
              <a:rPr lang="en-US" sz="1250" b="1" dirty="0">
                <a:solidFill>
                  <a:schemeClr val="tx1"/>
                </a:solidFill>
              </a:rPr>
              <a:t>gemmi</a:t>
            </a:r>
            <a:endParaRPr lang="en-US" sz="1250" dirty="0"/>
          </a:p>
          <a:p>
            <a:pPr indent="0" marL="0">
              <a:spcAft>
                <a:spcPts val="500"/>
              </a:spcAft>
              <a:buNone/>
            </a:pPr>
            <a:r>
              <a:rPr lang="en-US" sz="1250" dirty="0">
                <a:solidFill>
                  <a:schemeClr val="tx1"/>
                </a:solidFill>
              </a:rPr>
              <a:t>mmCIF and assembly parsing</a:t>
            </a:r>
            <a:endParaRPr lang="en-US" sz="1250" dirty="0"/>
          </a:p>
          <a:p>
            <a:pPr indent="0" marL="0">
              <a:spcAft>
                <a:spcPts val="500"/>
              </a:spcAft>
              <a:buNone/>
            </a:pPr>
            <a:r>
              <a:rPr lang="en-US" sz="1250" b="1" dirty="0">
                <a:solidFill>
                  <a:schemeClr val="tx1"/>
                </a:solidFill>
              </a:rPr>
              <a:t>FreeSASA</a:t>
            </a:r>
            <a:endParaRPr lang="en-US" sz="1250" dirty="0"/>
          </a:p>
          <a:p>
            <a:pPr indent="0" marL="0">
              <a:spcAft>
                <a:spcPts val="500"/>
              </a:spcAft>
              <a:buNone/>
            </a:pPr>
            <a:r>
              <a:rPr lang="en-US" sz="1250" dirty="0">
                <a:solidFill>
                  <a:schemeClr val="tx1"/>
                </a:solidFill>
              </a:rPr>
              <a:t>solvent-accessible surface, Lee-Richards</a:t>
            </a:r>
            <a:endParaRPr lang="en-US" sz="1250" dirty="0"/>
          </a:p>
          <a:p>
            <a:pPr indent="0" marL="0">
              <a:spcAft>
                <a:spcPts val="500"/>
              </a:spcAft>
              <a:buNone/>
            </a:pPr>
            <a:r>
              <a:rPr lang="en-US" sz="1250" b="1" dirty="0">
                <a:solidFill>
                  <a:schemeClr val="tx1"/>
                </a:solidFill>
              </a:rPr>
              <a:t>PLIP</a:t>
            </a:r>
            <a:endParaRPr lang="en-US" sz="1250" dirty="0"/>
          </a:p>
          <a:p>
            <a:pPr indent="0" marL="0">
              <a:spcAft>
                <a:spcPts val="500"/>
              </a:spcAft>
              <a:buNone/>
            </a:pPr>
            <a:r>
              <a:rPr lang="en-US" sz="1250" dirty="0">
                <a:solidFill>
                  <a:schemeClr val="tx1"/>
                </a:solidFill>
              </a:rPr>
              <a:t>interaction typing at each half-interface</a:t>
            </a:r>
            <a:endParaRPr lang="en-US" sz="1250" dirty="0"/>
          </a:p>
        </p:txBody>
      </p:sp>
      <p:sp>
        <p:nvSpPr>
          <p:cNvPr id="13" name="Text 11"/>
          <p:cNvSpPr txBox="1"/>
          <p:nvPr/>
        </p:nvSpPr>
        <p:spPr>
          <a:xfrm>
            <a:off x="7726680" y="3968496"/>
            <a:ext cx="2194560" cy="512064"/>
          </a:xfrm>
          <a:prstGeom prst="rect">
            <a:avLst/>
          </a:prstGeom>
          <a:noFill/>
          <a:ln/>
        </p:spPr>
        <p:txBody>
          <a:bodyPr wrap="square" lIns="0" tIns="0" rIns="0" bIns="0" rtlCol="0" anchor="ctr"/>
          <a:lstStyle/>
          <a:p>
            <a:pPr indent="0" marL="0">
              <a:buNone/>
            </a:pPr>
            <a:r>
              <a:rPr lang="en-US" sz="3000" b="1" dirty="0">
                <a:solidFill>
                  <a:srgbClr val="A64708"/>
                </a:solidFill>
                <a:latin typeface="Cambria" pitchFamily="34" charset="0"/>
                <a:ea typeface="Cambria" pitchFamily="34" charset="-122"/>
                <a:cs typeface="Cambria" pitchFamily="34" charset="-120"/>
              </a:rPr>
              <a:t>285,996</a:t>
            </a:r>
            <a:endParaRPr lang="en-US" sz="3000" dirty="0"/>
          </a:p>
        </p:txBody>
      </p:sp>
      <p:sp>
        <p:nvSpPr>
          <p:cNvPr id="14" name="Text 12"/>
          <p:cNvSpPr txBox="1"/>
          <p:nvPr/>
        </p:nvSpPr>
        <p:spPr>
          <a:xfrm>
            <a:off x="7726680" y="4462272"/>
            <a:ext cx="2194560" cy="457200"/>
          </a:xfrm>
          <a:prstGeom prst="rect">
            <a:avLst/>
          </a:prstGeom>
          <a:noFill/>
          <a:ln/>
        </p:spPr>
        <p:txBody>
          <a:bodyPr wrap="square" lIns="0" tIns="0" rIns="0" bIns="0" rtlCol="0" anchor="t"/>
          <a:lstStyle/>
          <a:p>
            <a:pPr indent="0" marL="0">
              <a:buNone/>
            </a:pPr>
            <a:r>
              <a:rPr lang="en-US" sz="1050" dirty="0">
                <a:solidFill>
                  <a:srgbClr val="61655F"/>
                </a:solidFill>
              </a:rPr>
              <a:t>bridges measured</a:t>
            </a:r>
            <a:endParaRPr lang="en-US" sz="1050" dirty="0"/>
          </a:p>
        </p:txBody>
      </p:sp>
      <p:sp>
        <p:nvSpPr>
          <p:cNvPr id="15" name="Text 13"/>
          <p:cNvSpPr txBox="1"/>
          <p:nvPr/>
        </p:nvSpPr>
        <p:spPr>
          <a:xfrm>
            <a:off x="7726680" y="4974336"/>
            <a:ext cx="2194560" cy="512064"/>
          </a:xfrm>
          <a:prstGeom prst="rect">
            <a:avLst/>
          </a:prstGeom>
          <a:noFill/>
          <a:ln/>
        </p:spPr>
        <p:txBody>
          <a:bodyPr wrap="square" lIns="0" tIns="0" rIns="0" bIns="0" rtlCol="0" anchor="ctr"/>
          <a:lstStyle/>
          <a:p>
            <a:pPr indent="0" marL="0">
              <a:buNone/>
            </a:pPr>
            <a:r>
              <a:rPr lang="en-US" sz="3000" b="1" dirty="0">
                <a:solidFill>
                  <a:srgbClr val="A33A2A"/>
                </a:solidFill>
                <a:latin typeface="Cambria" pitchFamily="34" charset="0"/>
                <a:ea typeface="Cambria" pitchFamily="34" charset="-122"/>
                <a:cs typeface="Cambria" pitchFamily="34" charset="-120"/>
              </a:rPr>
              <a:t>19</a:t>
            </a:r>
            <a:endParaRPr lang="en-US" sz="3000" dirty="0"/>
          </a:p>
        </p:txBody>
      </p:sp>
      <p:sp>
        <p:nvSpPr>
          <p:cNvPr id="16" name="Text 14"/>
          <p:cNvSpPr txBox="1"/>
          <p:nvPr/>
        </p:nvSpPr>
        <p:spPr>
          <a:xfrm>
            <a:off x="7726680" y="5468112"/>
            <a:ext cx="2194560" cy="457200"/>
          </a:xfrm>
          <a:prstGeom prst="rect">
            <a:avLst/>
          </a:prstGeom>
          <a:noFill/>
          <a:ln/>
        </p:spPr>
        <p:txBody>
          <a:bodyPr wrap="square" lIns="0" tIns="0" rIns="0" bIns="0" rtlCol="0" anchor="t"/>
          <a:lstStyle/>
          <a:p>
            <a:pPr indent="0" marL="0">
              <a:buNone/>
            </a:pPr>
            <a:r>
              <a:rPr lang="en-US" sz="1050" dirty="0">
                <a:solidFill>
                  <a:srgbClr val="61655F"/>
                </a:solidFill>
              </a:rPr>
              <a:t>entries failed</a:t>
            </a:r>
            <a:endParaRPr lang="en-US" sz="1050" dirty="0"/>
          </a:p>
        </p:txBody>
      </p:sp>
      <p:sp>
        <p:nvSpPr>
          <p:cNvPr id="17" name="Text 15"/>
          <p:cNvSpPr txBox="1"/>
          <p:nvPr/>
        </p:nvSpPr>
        <p:spPr>
          <a:xfrm>
            <a:off x="10012680" y="3968496"/>
            <a:ext cx="1673352" cy="512064"/>
          </a:xfrm>
          <a:prstGeom prst="rect">
            <a:avLst/>
          </a:prstGeom>
          <a:noFill/>
          <a:ln/>
        </p:spPr>
        <p:txBody>
          <a:bodyPr wrap="square" lIns="0" tIns="0" rIns="0" bIns="0" rtlCol="0" anchor="ctr"/>
          <a:lstStyle/>
          <a:p>
            <a:pPr indent="0" marL="0">
              <a:buNone/>
            </a:pPr>
            <a:r>
              <a:rPr lang="en-US" sz="3000" b="1" dirty="0">
                <a:solidFill>
                  <a:srgbClr val="2C6D60"/>
                </a:solidFill>
                <a:latin typeface="Cambria" pitchFamily="34" charset="0"/>
                <a:ea typeface="Cambria" pitchFamily="34" charset="-122"/>
                <a:cs typeface="Cambria" pitchFamily="34" charset="-120"/>
              </a:rPr>
              <a:t>27,605</a:t>
            </a:r>
            <a:endParaRPr lang="en-US" sz="3000" dirty="0"/>
          </a:p>
        </p:txBody>
      </p:sp>
      <p:sp>
        <p:nvSpPr>
          <p:cNvPr id="18" name="Text 16"/>
          <p:cNvSpPr txBox="1"/>
          <p:nvPr/>
        </p:nvSpPr>
        <p:spPr>
          <a:xfrm>
            <a:off x="10012680" y="4462272"/>
            <a:ext cx="1673352" cy="457200"/>
          </a:xfrm>
          <a:prstGeom prst="rect">
            <a:avLst/>
          </a:prstGeom>
          <a:noFill/>
          <a:ln/>
        </p:spPr>
        <p:txBody>
          <a:bodyPr wrap="square" lIns="0" tIns="0" rIns="0" bIns="0" rtlCol="0" anchor="t"/>
          <a:lstStyle/>
          <a:p>
            <a:pPr indent="0" marL="0">
              <a:buNone/>
            </a:pPr>
            <a:r>
              <a:rPr lang="en-US" sz="1050" dirty="0">
                <a:solidFill>
                  <a:srgbClr val="61655F"/>
                </a:solidFill>
              </a:rPr>
              <a:t>glue candidates</a:t>
            </a:r>
            <a:endParaRPr lang="en-US" sz="1050" dirty="0"/>
          </a:p>
        </p:txBody>
      </p:sp>
      <p:sp>
        <p:nvSpPr>
          <p:cNvPr id="19" name="Text 17"/>
          <p:cNvSpPr txBox="1"/>
          <p:nvPr/>
        </p:nvSpPr>
        <p:spPr>
          <a:xfrm>
            <a:off x="9948672" y="4974336"/>
            <a:ext cx="1737360" cy="512064"/>
          </a:xfrm>
          <a:prstGeom prst="rect">
            <a:avLst/>
          </a:prstGeom>
          <a:noFill/>
          <a:ln/>
        </p:spPr>
        <p:txBody>
          <a:bodyPr wrap="square" lIns="0" tIns="0" rIns="0" bIns="0" rtlCol="0" anchor="ctr"/>
          <a:lstStyle/>
          <a:p>
            <a:pPr indent="0" marL="0">
              <a:buNone/>
            </a:pPr>
            <a:r>
              <a:rPr lang="en-US" sz="3000" b="1" dirty="0">
                <a:solidFill>
                  <a:srgbClr val="A64708"/>
                </a:solidFill>
                <a:latin typeface="Cambria" pitchFamily="34" charset="0"/>
                <a:ea typeface="Cambria" pitchFamily="34" charset="-122"/>
                <a:cs typeface="Cambria" pitchFamily="34" charset="-120"/>
              </a:rPr>
              <a:t>30,149</a:t>
            </a:r>
            <a:endParaRPr lang="en-US" sz="3000" dirty="0"/>
          </a:p>
        </p:txBody>
      </p:sp>
      <p:sp>
        <p:nvSpPr>
          <p:cNvPr id="20" name="Text 18"/>
          <p:cNvSpPr txBox="1"/>
          <p:nvPr/>
        </p:nvSpPr>
        <p:spPr>
          <a:xfrm>
            <a:off x="9948672" y="5468112"/>
            <a:ext cx="1737360" cy="457200"/>
          </a:xfrm>
          <a:prstGeom prst="rect">
            <a:avLst/>
          </a:prstGeom>
          <a:noFill/>
          <a:ln/>
        </p:spPr>
        <p:txBody>
          <a:bodyPr wrap="square" lIns="0" tIns="0" rIns="0" bIns="0" rtlCol="0" anchor="t"/>
          <a:lstStyle/>
          <a:p>
            <a:pPr indent="0" marL="0">
              <a:buNone/>
            </a:pPr>
            <a:r>
              <a:rPr lang="en-US" sz="1050" dirty="0">
                <a:solidFill>
                  <a:srgbClr val="61655F"/>
                </a:solidFill>
              </a:rPr>
              <a:t>distinct ligands</a:t>
            </a:r>
            <a:endParaRPr lang="en-US" sz="1050" dirty="0"/>
          </a:p>
          <a:p>
            <a:pPr indent="0" marL="0">
              <a:buNone/>
            </a:pPr>
            <a:r>
              <a:rPr lang="en-US" sz="1050" dirty="0">
                <a:solidFill>
                  <a:srgbClr val="61655F"/>
                </a:solidFill>
              </a:rPr>
              <a:t>classified</a:t>
            </a:r>
            <a:endParaRPr lang="en-US" sz="1050" dirty="0"/>
          </a:p>
        </p:txBody>
      </p:sp>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hip-3"/>
          <p:cNvSpPr/>
          <p:nvPr/>
        </p:nvSpPr>
        <p:spPr>
          <a:xfrm>
            <a:off x="502920" y="493776"/>
            <a:ext cx="475488" cy="475488"/>
          </a:xfrm>
          <a:prstGeom prst="roundRect">
            <a:avLst>
              <a:gd name="adj" fmla="val 19231"/>
            </a:avLst>
          </a:prstGeom>
          <a:solidFill>
            <a:srgbClr val="A64708"/>
          </a:solidFill>
          <a:ln w="12700">
            <a:solidFill>
              <a:srgbClr val="A64708"/>
            </a:solidFill>
            <a:prstDash val="solid"/>
          </a:ln>
        </p:spPr>
      </p:sp>
      <p:sp>
        <p:nvSpPr>
          <p:cNvPr id="3" name="Text 1"/>
          <p:cNvSpPr txBox="1"/>
          <p:nvPr/>
        </p:nvSpPr>
        <p:spPr>
          <a:xfrm>
            <a:off x="502920" y="4937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4" name="Text 2"/>
          <p:cNvSpPr txBox="1"/>
          <p:nvPr/>
        </p:nvSpPr>
        <p:spPr>
          <a:xfrm>
            <a:off x="1161288" y="457200"/>
            <a:ext cx="10497312"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Scan and triage</a:t>
            </a:r>
            <a:endParaRPr lang="en-US" sz="3200" dirty="0"/>
          </a:p>
        </p:txBody>
      </p:sp>
      <p:sp>
        <p:nvSpPr>
          <p:cNvPr id="5" name="Text 3"/>
          <p:cNvSpPr txBox="1"/>
          <p:nvPr/>
        </p:nvSpPr>
        <p:spPr>
          <a:xfrm>
            <a:off x="502920" y="1133856"/>
            <a:ext cx="11155680" cy="384048"/>
          </a:xfrm>
          <a:prstGeom prst="rect">
            <a:avLst/>
          </a:prstGeom>
          <a:noFill/>
          <a:ln/>
        </p:spPr>
        <p:txBody>
          <a:bodyPr wrap="square" lIns="0" tIns="0" rIns="0" bIns="0" rtlCol="0" anchor="ctr"/>
          <a:lstStyle/>
          <a:p>
            <a:pPr indent="0" marL="0">
              <a:buNone/>
            </a:pPr>
            <a:r>
              <a:rPr lang="en-US" sz="1450" i="1" dirty="0">
                <a:solidFill>
                  <a:srgbClr val="A64708"/>
                </a:solidFill>
              </a:rPr>
              <a:t>Finding the glue is a third of the problem.</a:t>
            </a:r>
            <a:endParaRPr lang="en-US" sz="1450" dirty="0"/>
          </a:p>
        </p:txBody>
      </p:sp>
      <p:sp>
        <p:nvSpPr>
          <p:cNvPr id="6" name="Text 4"/>
          <p:cNvSpPr txBox="1"/>
          <p:nvPr/>
        </p:nvSpPr>
        <p:spPr>
          <a:xfrm>
            <a:off x="502920" y="1627632"/>
            <a:ext cx="11155680" cy="914400"/>
          </a:xfrm>
          <a:prstGeom prst="rect">
            <a:avLst/>
          </a:prstGeom>
          <a:noFill/>
          <a:ln/>
        </p:spPr>
        <p:txBody>
          <a:bodyPr wrap="square" lIns="0" tIns="0" rIns="0" bIns="0" rtlCol="0" anchor="t"/>
          <a:lstStyle/>
          <a:p>
            <a:pPr indent="0" marL="0">
              <a:lnSpc>
                <a:spcPct val="118000"/>
              </a:lnSpc>
              <a:buNone/>
            </a:pPr>
            <a:r>
              <a:rPr lang="en-US" sz="1350" b="1" dirty="0">
                <a:solidFill>
                  <a:schemeClr val="tx1"/>
                </a:solidFill>
              </a:rPr>
              <a:t>The science.</a:t>
            </a:r>
            <a:pPr indent="0" marL="0">
              <a:lnSpc>
                <a:spcPct val="118000"/>
              </a:lnSpc>
              <a:buNone/>
            </a:pPr>
            <a:r>
              <a:rPr lang="en-US" sz="1350" dirty="0">
                <a:solidFill>
                  <a:schemeClr val="tx1"/>
                </a:solidFill>
              </a:rPr>
              <a:t> A degrader needs three things the glue itself does not supply: a </a:t>
            </a:r>
            <a:pPr indent="0" marL="0">
              <a:lnSpc>
                <a:spcPct val="118000"/>
              </a:lnSpc>
              <a:buNone/>
            </a:pPr>
            <a:r>
              <a:rPr lang="en-US" sz="1350" b="1" dirty="0">
                <a:solidFill>
                  <a:schemeClr val="tx1"/>
                </a:solidFill>
              </a:rPr>
              <a:t>degron</a:t>
            </a:r>
            <a:pPr indent="0" marL="0">
              <a:lnSpc>
                <a:spcPct val="118000"/>
              </a:lnSpc>
              <a:buNone/>
            </a:pPr>
            <a:r>
              <a:rPr lang="en-US" sz="1350" dirty="0">
                <a:solidFill>
                  <a:schemeClr val="tx1"/>
                </a:solidFill>
              </a:rPr>
              <a:t> on the target that the ligase can read, a </a:t>
            </a:r>
            <a:pPr indent="0" marL="0">
              <a:lnSpc>
                <a:spcPct val="118000"/>
              </a:lnSpc>
              <a:buNone/>
            </a:pPr>
            <a:r>
              <a:rPr lang="en-US" sz="1350" b="1" dirty="0">
                <a:solidFill>
                  <a:schemeClr val="tx1"/>
                </a:solidFill>
              </a:rPr>
              <a:t>ligase</a:t>
            </a:r>
            <a:pPr indent="0" marL="0">
              <a:lnSpc>
                <a:spcPct val="118000"/>
              </a:lnSpc>
              <a:buNone/>
            </a:pPr>
            <a:r>
              <a:rPr lang="en-US" sz="1350" dirty="0">
                <a:solidFill>
                  <a:schemeClr val="tx1"/>
                </a:solidFill>
              </a:rPr>
              <a:t> you can actually put a ligand on, and a </a:t>
            </a:r>
            <a:pPr indent="0" marL="0">
              <a:lnSpc>
                <a:spcPct val="118000"/>
              </a:lnSpc>
              <a:buNone/>
            </a:pPr>
            <a:r>
              <a:rPr lang="en-US" sz="1350" b="1" dirty="0">
                <a:solidFill>
                  <a:schemeClr val="tx1"/>
                </a:solidFill>
              </a:rPr>
              <a:t>lysine</a:t>
            </a:r>
            <a:pPr indent="0" marL="0">
              <a:lnSpc>
                <a:spcPct val="118000"/>
              </a:lnSpc>
              <a:buNone/>
            </a:pPr>
            <a:r>
              <a:rPr lang="en-US" sz="1350" dirty="0">
                <a:solidFill>
                  <a:schemeClr val="tx1"/>
                </a:solidFill>
              </a:rPr>
              <a:t> the E2 can reach once the complex forms. Each is scored on its own and against its own published dataset.</a:t>
            </a:r>
            <a:endParaRPr lang="en-US" sz="1350" dirty="0"/>
          </a:p>
        </p:txBody>
      </p:sp>
      <p:sp>
        <p:nvSpPr>
          <p:cNvPr id="7" name="card"/>
          <p:cNvSpPr/>
          <p:nvPr/>
        </p:nvSpPr>
        <p:spPr>
          <a:xfrm>
            <a:off x="502920" y="2523744"/>
            <a:ext cx="3520440" cy="2231136"/>
          </a:xfrm>
          <a:prstGeom prst="roundRect">
            <a:avLst>
              <a:gd name="adj" fmla="val 1639"/>
            </a:avLst>
          </a:prstGeom>
          <a:solidFill>
            <a:srgbClr val="E9EAE5"/>
          </a:solidFill>
          <a:ln w="12700">
            <a:solidFill>
              <a:srgbClr val="E9EAE5"/>
            </a:solidFill>
            <a:prstDash val="solid"/>
          </a:ln>
        </p:spPr>
      </p:sp>
      <p:sp>
        <p:nvSpPr>
          <p:cNvPr id="8" name="Text 6"/>
          <p:cNvSpPr txBox="1"/>
          <p:nvPr/>
        </p:nvSpPr>
        <p:spPr>
          <a:xfrm>
            <a:off x="740664" y="2688336"/>
            <a:ext cx="304495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DEGRON SCAN</a:t>
            </a:r>
            <a:endParaRPr lang="en-US" sz="1100" dirty="0"/>
          </a:p>
        </p:txBody>
      </p:sp>
      <p:sp>
        <p:nvSpPr>
          <p:cNvPr id="9" name="Text 7"/>
          <p:cNvSpPr txBox="1"/>
          <p:nvPr/>
        </p:nvSpPr>
        <p:spPr>
          <a:xfrm>
            <a:off x="740664" y="2999232"/>
            <a:ext cx="3044952" cy="1572768"/>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AlphaFold models from AFDB, DSSP for secondary structure, then the geometry of a β-hairpin with an exposed glycine at the tip — the shape CRBN reads.</a:t>
            </a:r>
            <a:endParaRPr lang="en-US" sz="1250" dirty="0"/>
          </a:p>
          <a:p>
            <a:pPr indent="0" marL="0">
              <a:spcAft>
                <a:spcPts val="500"/>
              </a:spcAft>
              <a:buNone/>
            </a:pPr>
            <a:r>
              <a:rPr lang="en-US" sz="1250" b="1" dirty="0">
                <a:solidFill>
                  <a:schemeClr val="tx1"/>
                </a:solidFill>
              </a:rPr>
              <a:t>21,717 candidates over 8,983 proteins</a:t>
            </a:r>
            <a:endParaRPr lang="en-US" sz="1250" dirty="0"/>
          </a:p>
          <a:p>
            <a:pPr indent="0" marL="0">
              <a:spcAft>
                <a:spcPts val="500"/>
              </a:spcAft>
              <a:buNone/>
            </a:pPr>
            <a:r>
              <a:rPr lang="en-US" sz="1250" b="1" dirty="0">
                <a:solidFill>
                  <a:schemeClr val="tx1"/>
                </a:solidFill>
              </a:rPr>
              <a:t>7,452 C2H2 zinc fingers, scored one finger at a time</a:t>
            </a:r>
            <a:endParaRPr lang="en-US" sz="1250" dirty="0"/>
          </a:p>
        </p:txBody>
      </p:sp>
      <p:sp>
        <p:nvSpPr>
          <p:cNvPr id="10" name="card"/>
          <p:cNvSpPr/>
          <p:nvPr/>
        </p:nvSpPr>
        <p:spPr>
          <a:xfrm>
            <a:off x="4297680" y="2523744"/>
            <a:ext cx="3520440" cy="2231136"/>
          </a:xfrm>
          <a:prstGeom prst="roundRect">
            <a:avLst>
              <a:gd name="adj" fmla="val 1639"/>
            </a:avLst>
          </a:prstGeom>
          <a:solidFill>
            <a:srgbClr val="E9EAE5"/>
          </a:solidFill>
          <a:ln w="12700">
            <a:solidFill>
              <a:srgbClr val="E9EAE5"/>
            </a:solidFill>
            <a:prstDash val="solid"/>
          </a:ln>
        </p:spPr>
      </p:sp>
      <p:sp>
        <p:nvSpPr>
          <p:cNvPr id="11" name="Text 9"/>
          <p:cNvSpPr txBox="1"/>
          <p:nvPr/>
        </p:nvSpPr>
        <p:spPr>
          <a:xfrm>
            <a:off x="4535424" y="2688336"/>
            <a:ext cx="304495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E3 TRIAGE</a:t>
            </a:r>
            <a:endParaRPr lang="en-US" sz="1100" dirty="0"/>
          </a:p>
        </p:txBody>
      </p:sp>
      <p:sp>
        <p:nvSpPr>
          <p:cNvPr id="12" name="Text 10"/>
          <p:cNvSpPr txBox="1"/>
          <p:nvPr/>
        </p:nvSpPr>
        <p:spPr>
          <a:xfrm>
            <a:off x="4535424" y="2999232"/>
            <a:ext cx="3044952" cy="1572768"/>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fpocket finds and scores the druggable pocket on every human E3, combined with structural coverage, expression selectivity and family.</a:t>
            </a:r>
            <a:endParaRPr lang="en-US" sz="1250" dirty="0"/>
          </a:p>
          <a:p>
            <a:pPr indent="0" marL="0">
              <a:spcAft>
                <a:spcPts val="500"/>
              </a:spcAft>
              <a:buNone/>
            </a:pPr>
            <a:r>
              <a:rPr lang="en-US" sz="1250" b="1" dirty="0">
                <a:solidFill>
                  <a:schemeClr val="tx1"/>
                </a:solidFill>
              </a:rPr>
              <a:t>650 ligases ranked</a:t>
            </a:r>
            <a:endParaRPr lang="en-US" sz="1250" dirty="0"/>
          </a:p>
          <a:p>
            <a:pPr indent="0" marL="0">
              <a:spcAft>
                <a:spcPts val="500"/>
              </a:spcAft>
              <a:buNone/>
            </a:pPr>
            <a:r>
              <a:rPr lang="en-US" sz="1250" b="1" dirty="0">
                <a:solidFill>
                  <a:schemeClr val="tx1"/>
                </a:solidFill>
              </a:rPr>
              <a:t>638 carry a pocket score</a:t>
            </a:r>
            <a:endParaRPr lang="en-US" sz="1250" dirty="0"/>
          </a:p>
        </p:txBody>
      </p:sp>
      <p:sp>
        <p:nvSpPr>
          <p:cNvPr id="13" name="card"/>
          <p:cNvSpPr/>
          <p:nvPr/>
        </p:nvSpPr>
        <p:spPr>
          <a:xfrm>
            <a:off x="8092440" y="2523744"/>
            <a:ext cx="3520440" cy="2231136"/>
          </a:xfrm>
          <a:prstGeom prst="roundRect">
            <a:avLst>
              <a:gd name="adj" fmla="val 1639"/>
            </a:avLst>
          </a:prstGeom>
          <a:solidFill>
            <a:srgbClr val="E9EAE5"/>
          </a:solidFill>
          <a:ln w="12700">
            <a:solidFill>
              <a:srgbClr val="E9EAE5"/>
            </a:solidFill>
            <a:prstDash val="solid"/>
          </a:ln>
        </p:spPr>
      </p:sp>
      <p:sp>
        <p:nvSpPr>
          <p:cNvPr id="14" name="Text 12"/>
          <p:cNvSpPr txBox="1"/>
          <p:nvPr/>
        </p:nvSpPr>
        <p:spPr>
          <a:xfrm>
            <a:off x="8330184" y="2688336"/>
            <a:ext cx="304495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DEGRADABILITY</a:t>
            </a:r>
            <a:endParaRPr lang="en-US" sz="1100" dirty="0"/>
          </a:p>
        </p:txBody>
      </p:sp>
      <p:sp>
        <p:nvSpPr>
          <p:cNvPr id="15" name="Text 13"/>
          <p:cNvSpPr txBox="1"/>
          <p:nvPr/>
        </p:nvSpPr>
        <p:spPr>
          <a:xfrm>
            <a:off x="8330184" y="2999232"/>
            <a:ext cx="3044952" cy="1572768"/>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Surface lysine accessibility and the Cβ–Cβ distance from the chosen binding site, against a reach window fitted on real ternary complexes.</a:t>
            </a:r>
            <a:endParaRPr lang="en-US" sz="1250" dirty="0"/>
          </a:p>
          <a:p>
            <a:pPr indent="0" marL="0">
              <a:spcAft>
                <a:spcPts val="500"/>
              </a:spcAft>
              <a:buNone/>
            </a:pPr>
            <a:r>
              <a:rPr lang="en-US" sz="1250" b="1" dirty="0">
                <a:solidFill>
                  <a:schemeClr val="tx1"/>
                </a:solidFill>
              </a:rPr>
              <a:t>1,650 lysines scored</a:t>
            </a:r>
            <a:endParaRPr lang="en-US" sz="1250" dirty="0"/>
          </a:p>
          <a:p>
            <a:pPr indent="0" marL="0">
              <a:spcAft>
                <a:spcPts val="500"/>
              </a:spcAft>
              <a:buNone/>
            </a:pPr>
            <a:r>
              <a:rPr lang="en-US" sz="1250" b="1" dirty="0">
                <a:solidFill>
                  <a:schemeClr val="tx1"/>
                </a:solidFill>
              </a:rPr>
              <a:t>window fitted on 43 complexes</a:t>
            </a:r>
            <a:endParaRPr lang="en-US" sz="1250" dirty="0"/>
          </a:p>
        </p:txBody>
      </p:sp>
      <p:sp>
        <p:nvSpPr>
          <p:cNvPr id="16" name="card"/>
          <p:cNvSpPr/>
          <p:nvPr/>
        </p:nvSpPr>
        <p:spPr>
          <a:xfrm>
            <a:off x="502920" y="4974336"/>
            <a:ext cx="11155680" cy="713232"/>
          </a:xfrm>
          <a:prstGeom prst="roundRect">
            <a:avLst>
              <a:gd name="adj" fmla="val 5128"/>
            </a:avLst>
          </a:prstGeom>
          <a:solidFill>
            <a:srgbClr val="E9EAE5"/>
          </a:solidFill>
          <a:ln w="12700">
            <a:solidFill>
              <a:srgbClr val="E9EAE5"/>
            </a:solidFill>
            <a:prstDash val="solid"/>
          </a:ln>
        </p:spPr>
      </p:sp>
      <p:sp>
        <p:nvSpPr>
          <p:cNvPr id="17" name="Text 15"/>
          <p:cNvSpPr txBox="1"/>
          <p:nvPr/>
        </p:nvSpPr>
        <p:spPr>
          <a:xfrm>
            <a:off x="740664" y="5157216"/>
            <a:ext cx="10680192" cy="347472"/>
          </a:xfrm>
          <a:prstGeom prst="rect">
            <a:avLst/>
          </a:prstGeom>
          <a:noFill/>
          <a:ln/>
        </p:spPr>
        <p:txBody>
          <a:bodyPr wrap="square" lIns="0" tIns="0" rIns="0" bIns="0" rtlCol="0" anchor="t"/>
          <a:lstStyle/>
          <a:p>
            <a:pPr indent="0" marL="0">
              <a:spcAft>
                <a:spcPts val="500"/>
              </a:spcAft>
              <a:buNone/>
            </a:pPr>
            <a:r>
              <a:rPr lang="en-US" sz="1250" i="1" dirty="0">
                <a:solidFill>
                  <a:schemeClr val="tx1"/>
                </a:solidFill>
              </a:rPr>
              <a:t>570 degron scans and 12 ligases failed. Both counts are on the About page, because a stage that hides its failures is a stage nobody can audit.</a:t>
            </a:r>
            <a:endParaRPr lang="en-US" sz="1250" dirty="0"/>
          </a:p>
        </p:txBody>
      </p:sp>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hip-4"/>
          <p:cNvSpPr/>
          <p:nvPr/>
        </p:nvSpPr>
        <p:spPr>
          <a:xfrm>
            <a:off x="502920" y="493776"/>
            <a:ext cx="475488" cy="475488"/>
          </a:xfrm>
          <a:prstGeom prst="roundRect">
            <a:avLst>
              <a:gd name="adj" fmla="val 19231"/>
            </a:avLst>
          </a:prstGeom>
          <a:solidFill>
            <a:srgbClr val="A64708"/>
          </a:solidFill>
          <a:ln w="12700">
            <a:solidFill>
              <a:srgbClr val="A64708"/>
            </a:solidFill>
            <a:prstDash val="solid"/>
          </a:ln>
        </p:spPr>
      </p:sp>
      <p:sp>
        <p:nvSpPr>
          <p:cNvPr id="3" name="Text 1"/>
          <p:cNvSpPr txBox="1"/>
          <p:nvPr/>
        </p:nvSpPr>
        <p:spPr>
          <a:xfrm>
            <a:off x="502920" y="4937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4" name="Text 2"/>
          <p:cNvSpPr txBox="1"/>
          <p:nvPr/>
        </p:nvSpPr>
        <p:spPr>
          <a:xfrm>
            <a:off x="1161288" y="457200"/>
            <a:ext cx="10497312"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Model</a:t>
            </a:r>
            <a:endParaRPr lang="en-US" sz="3200" dirty="0"/>
          </a:p>
        </p:txBody>
      </p:sp>
      <p:sp>
        <p:nvSpPr>
          <p:cNvPr id="5" name="Text 3"/>
          <p:cNvSpPr txBox="1"/>
          <p:nvPr/>
        </p:nvSpPr>
        <p:spPr>
          <a:xfrm>
            <a:off x="502920" y="1133856"/>
            <a:ext cx="11155680" cy="384048"/>
          </a:xfrm>
          <a:prstGeom prst="rect">
            <a:avLst/>
          </a:prstGeom>
          <a:noFill/>
          <a:ln/>
        </p:spPr>
        <p:txBody>
          <a:bodyPr wrap="square" lIns="0" tIns="0" rIns="0" bIns="0" rtlCol="0" anchor="ctr"/>
          <a:lstStyle/>
          <a:p>
            <a:pPr indent="0" marL="0">
              <a:buNone/>
            </a:pPr>
            <a:r>
              <a:rPr lang="en-US" sz="1450" i="1" dirty="0">
                <a:solidFill>
                  <a:srgbClr val="A64708"/>
                </a:solidFill>
              </a:rPr>
              <a:t>The model does the text work and never produces a number.</a:t>
            </a:r>
            <a:endParaRPr lang="en-US" sz="1450" dirty="0"/>
          </a:p>
        </p:txBody>
      </p:sp>
      <p:sp>
        <p:nvSpPr>
          <p:cNvPr id="6" name="Text 4"/>
          <p:cNvSpPr txBox="1"/>
          <p:nvPr/>
        </p:nvSpPr>
        <p:spPr>
          <a:xfrm>
            <a:off x="502920" y="1627632"/>
            <a:ext cx="6858000" cy="2834640"/>
          </a:xfrm>
          <a:prstGeom prst="rect">
            <a:avLst/>
          </a:prstGeom>
          <a:noFill/>
          <a:ln/>
        </p:spPr>
        <p:txBody>
          <a:bodyPr wrap="square" lIns="0" tIns="0" rIns="0" bIns="0" rtlCol="0" anchor="t"/>
          <a:lstStyle/>
          <a:p>
            <a:pPr indent="0" marL="0">
              <a:lnSpc>
                <a:spcPct val="118000"/>
              </a:lnSpc>
              <a:buNone/>
            </a:pPr>
            <a:r>
              <a:rPr lang="en-US" sz="1350" b="1" dirty="0">
                <a:solidFill>
                  <a:schemeClr val="tx1"/>
                </a:solidFill>
              </a:rPr>
              <a:t>The science.</a:t>
            </a:r>
            <a:pPr indent="0" marL="0">
              <a:lnSpc>
                <a:spcPct val="118000"/>
              </a:lnSpc>
              <a:buNone/>
            </a:pPr>
            <a:r>
              <a:rPr lang="en-US" sz="1350" dirty="0">
                <a:solidFill>
                  <a:schemeClr val="tx1"/>
                </a:solidFill>
              </a:rPr>
              <a:t> An atlas is useless if the only way in is SQL. But a language model that invents a binding affinity is worse than no model, so BINMAN's has one hard constraint: </a:t>
            </a:r>
            <a:pPr indent="0" marL="0">
              <a:lnSpc>
                <a:spcPct val="118000"/>
              </a:lnSpc>
              <a:buNone/>
            </a:pPr>
            <a:r>
              <a:rPr lang="en-US" sz="1350" b="1" dirty="0">
                <a:solidFill>
                  <a:schemeClr val="tx1"/>
                </a:solidFill>
              </a:rPr>
              <a:t>every number on every page is computed in Python</a:t>
            </a:r>
            <a:pPr indent="0" marL="0">
              <a:lnSpc>
                <a:spcPct val="118000"/>
              </a:lnSpc>
              <a:buNone/>
            </a:pPr>
            <a:r>
              <a:rPr lang="en-US" sz="1350" dirty="0">
                <a:solidFill>
                  <a:schemeClr val="tx1"/>
                </a:solidFill>
              </a:rPr>
              <a:t>. The model only ever writes a </a:t>
            </a:r>
            <a:pPr indent="0" marL="0">
              <a:lnSpc>
                <a:spcPct val="118000"/>
              </a:lnSpc>
              <a:buNone/>
            </a:pPr>
            <a:r>
              <a:rPr lang="en-US" sz="1350" dirty="0">
                <a:solidFill>
                  <a:schemeClr val="tx1"/>
                </a:solidFill>
              </a:rPr>
              <a:t>query</a:t>
            </a:r>
            <a:pPr indent="0" marL="0">
              <a:lnSpc>
                <a:spcPct val="118000"/>
              </a:lnSpc>
              <a:buNone/>
            </a:pPr>
            <a:r>
              <a:rPr lang="en-US" sz="1350" dirty="0">
                <a:solidFill>
                  <a:schemeClr val="tx1"/>
                </a:solidFill>
              </a:rPr>
              <a:t>; the database answers it.</a:t>
            </a:r>
            <a:endParaRPr lang="en-US" sz="1350" dirty="0"/>
          </a:p>
          <a:p>
            <a:pPr algn="r" indent="0" marL="0">
              <a:lnSpc>
                <a:spcPct val="118000"/>
              </a:lnSpc>
              <a:buNone/>
            </a:pPr>
            <a:endParaRPr lang="en-US" sz="1350" dirty="0"/>
          </a:p>
          <a:p>
            <a:pPr algn="r" indent="0" marL="0">
              <a:lnSpc>
                <a:spcPct val="118000"/>
              </a:lnSpc>
              <a:buNone/>
            </a:pPr>
            <a:endParaRPr lang="en-US" sz="1350" dirty="0"/>
          </a:p>
          <a:p>
            <a:pPr indent="0" marL="0">
              <a:lnSpc>
                <a:spcPct val="118000"/>
              </a:lnSpc>
              <a:buNone/>
            </a:pPr>
            <a:r>
              <a:rPr lang="en-US" sz="1350" b="1" dirty="0">
                <a:solidFill>
                  <a:schemeClr val="tx1"/>
                </a:solidFill>
              </a:rPr>
              <a:t>How it was trained.</a:t>
            </a:r>
            <a:pPr indent="0" marL="0">
              <a:lnSpc>
                <a:spcPct val="118000"/>
              </a:lnSpc>
              <a:buNone/>
            </a:pPr>
            <a:r>
              <a:rPr lang="en-US" sz="1350" dirty="0">
                <a:solidFill>
                  <a:schemeClr val="tx1"/>
                </a:solidFill>
              </a:rPr>
              <a:t> Qwen2.5-3B-Instruct at 4-bit, one LoRA adapter of rank 8 over 32 layers, trained with MLX on an Apple M2 Ultra. The training corpus is generated </a:t>
            </a:r>
            <a:pPr indent="0" marL="0">
              <a:lnSpc>
                <a:spcPct val="118000"/>
              </a:lnSpc>
              <a:buNone/>
            </a:pPr>
            <a:r>
              <a:rPr lang="en-US" sz="1350" b="1" dirty="0">
                <a:solidFill>
                  <a:schemeClr val="tx1"/>
                </a:solidFill>
              </a:rPr>
              <a:t>from the atlas itself</a:t>
            </a:r>
            <a:pPr indent="0" marL="0">
              <a:lnSpc>
                <a:spcPct val="118000"/>
              </a:lnSpc>
              <a:buNone/>
            </a:pPr>
            <a:r>
              <a:rPr lang="en-US" sz="1350" dirty="0">
                <a:solidFill>
                  <a:schemeClr val="tx1"/>
                </a:solidFill>
              </a:rPr>
              <a:t> and then validated by the app's own query parser: anything the parser rejected was dropped, so the corpus carries zero label noise by construction.</a:t>
            </a:r>
            <a:endParaRPr lang="en-US" sz="1350" dirty="0"/>
          </a:p>
        </p:txBody>
      </p:sp>
      <p:sp>
        <p:nvSpPr>
          <p:cNvPr id="7" name="card"/>
          <p:cNvSpPr/>
          <p:nvPr/>
        </p:nvSpPr>
        <p:spPr>
          <a:xfrm>
            <a:off x="502920" y="4572000"/>
            <a:ext cx="6858000" cy="1298448"/>
          </a:xfrm>
          <a:prstGeom prst="roundRect">
            <a:avLst>
              <a:gd name="adj" fmla="val 2817"/>
            </a:avLst>
          </a:prstGeom>
          <a:solidFill>
            <a:srgbClr val="E9EAE5"/>
          </a:solidFill>
          <a:ln w="12700">
            <a:solidFill>
              <a:srgbClr val="E9EAE5"/>
            </a:solidFill>
            <a:prstDash val="solid"/>
          </a:ln>
        </p:spPr>
      </p:sp>
      <p:sp>
        <p:nvSpPr>
          <p:cNvPr id="8" name="Text 6"/>
          <p:cNvSpPr txBox="1"/>
          <p:nvPr/>
        </p:nvSpPr>
        <p:spPr>
          <a:xfrm>
            <a:off x="740664" y="4736592"/>
            <a:ext cx="638251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ONE ADAPTER, THREE HEADS</a:t>
            </a:r>
            <a:endParaRPr lang="en-US" sz="1100" dirty="0"/>
          </a:p>
        </p:txBody>
      </p:sp>
      <p:sp>
        <p:nvSpPr>
          <p:cNvPr id="9" name="Text 7"/>
          <p:cNvSpPr txBox="1"/>
          <p:nvPr/>
        </p:nvSpPr>
        <p:spPr>
          <a:xfrm>
            <a:off x="740664" y="5047488"/>
            <a:ext cx="6382512" cy="640080"/>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A · query — your question becomes a query object, which the parser then checks</a:t>
            </a:r>
            <a:endParaRPr lang="en-US" sz="1250" dirty="0"/>
          </a:p>
          <a:p>
            <a:pPr indent="0" marL="0">
              <a:spcAft>
                <a:spcPts val="500"/>
              </a:spcAft>
              <a:buNone/>
            </a:pPr>
            <a:r>
              <a:rPr lang="en-US" sz="1250" dirty="0">
                <a:solidFill>
                  <a:schemeClr val="tx1"/>
                </a:solidFill>
              </a:rPr>
              <a:t>B · triage — evidence class on 27,590 bridge rows at build time</a:t>
            </a:r>
            <a:endParaRPr lang="en-US" sz="1250" dirty="0"/>
          </a:p>
          <a:p>
            <a:pPr indent="0" marL="0">
              <a:spcAft>
                <a:spcPts val="500"/>
              </a:spcAft>
              <a:buNone/>
            </a:pPr>
            <a:r>
              <a:rPr lang="en-US" sz="1250" dirty="0">
                <a:solidFill>
                  <a:schemeClr val="tx1"/>
                </a:solidFill>
              </a:rPr>
              <a:t>C · abstain — answerable or not, and what is missing when it is not</a:t>
            </a:r>
            <a:endParaRPr lang="en-US" sz="1250" dirty="0"/>
          </a:p>
        </p:txBody>
      </p:sp>
      <p:sp>
        <p:nvSpPr>
          <p:cNvPr id="10" name="card"/>
          <p:cNvSpPr/>
          <p:nvPr/>
        </p:nvSpPr>
        <p:spPr>
          <a:xfrm>
            <a:off x="7726680" y="1682496"/>
            <a:ext cx="3931920" cy="1691640"/>
          </a:xfrm>
          <a:prstGeom prst="roundRect">
            <a:avLst>
              <a:gd name="adj" fmla="val 2162"/>
            </a:avLst>
          </a:prstGeom>
          <a:solidFill>
            <a:srgbClr val="E9EAE5"/>
          </a:solidFill>
          <a:ln w="12700">
            <a:solidFill>
              <a:srgbClr val="E9EAE5"/>
            </a:solidFill>
            <a:prstDash val="solid"/>
          </a:ln>
        </p:spPr>
      </p:sp>
      <p:sp>
        <p:nvSpPr>
          <p:cNvPr id="11" name="Text 9"/>
          <p:cNvSpPr txBox="1"/>
          <p:nvPr/>
        </p:nvSpPr>
        <p:spPr>
          <a:xfrm>
            <a:off x="7964424" y="1847088"/>
            <a:ext cx="345643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SOFTWARE</a:t>
            </a:r>
            <a:endParaRPr lang="en-US" sz="1100" dirty="0"/>
          </a:p>
        </p:txBody>
      </p:sp>
      <p:sp>
        <p:nvSpPr>
          <p:cNvPr id="12" name="Text 10"/>
          <p:cNvSpPr txBox="1"/>
          <p:nvPr/>
        </p:nvSpPr>
        <p:spPr>
          <a:xfrm>
            <a:off x="7964424" y="2157984"/>
            <a:ext cx="3456432" cy="1033272"/>
          </a:xfrm>
          <a:prstGeom prst="rect">
            <a:avLst/>
          </a:prstGeom>
          <a:noFill/>
          <a:ln/>
        </p:spPr>
        <p:txBody>
          <a:bodyPr wrap="square" lIns="0" tIns="0" rIns="0" bIns="0" rtlCol="0" anchor="t"/>
          <a:lstStyle/>
          <a:p>
            <a:pPr indent="0" marL="0">
              <a:spcAft>
                <a:spcPts val="500"/>
              </a:spcAft>
              <a:buNone/>
            </a:pPr>
            <a:r>
              <a:rPr lang="en-US" sz="1250" b="1" dirty="0">
                <a:solidFill>
                  <a:schemeClr val="tx1"/>
                </a:solidFill>
              </a:rPr>
              <a:t>mlx-lm</a:t>
            </a:r>
            <a:endParaRPr lang="en-US" sz="1250" dirty="0"/>
          </a:p>
          <a:p>
            <a:pPr indent="0" marL="0">
              <a:spcAft>
                <a:spcPts val="500"/>
              </a:spcAft>
              <a:buNone/>
            </a:pPr>
            <a:r>
              <a:rPr lang="en-US" sz="1250" dirty="0">
                <a:solidFill>
                  <a:schemeClr val="tx1"/>
                </a:solidFill>
              </a:rPr>
              <a:t>LoRA fine-tuning on Apple silicon</a:t>
            </a:r>
            <a:endParaRPr lang="en-US" sz="1250" dirty="0"/>
          </a:p>
          <a:p>
            <a:pPr indent="0" marL="0">
              <a:spcAft>
                <a:spcPts val="500"/>
              </a:spcAft>
              <a:buNone/>
            </a:pPr>
            <a:r>
              <a:rPr lang="en-US" sz="1250" b="1" dirty="0">
                <a:solidFill>
                  <a:schemeClr val="tx1"/>
                </a:solidFill>
              </a:rPr>
              <a:t>PEFT + HF Spaces</a:t>
            </a:r>
            <a:endParaRPr lang="en-US" sz="1250" dirty="0"/>
          </a:p>
          <a:p>
            <a:pPr indent="0" marL="0">
              <a:spcAft>
                <a:spcPts val="500"/>
              </a:spcAft>
              <a:buNone/>
            </a:pPr>
            <a:r>
              <a:rPr lang="en-US" sz="1250" dirty="0">
                <a:solidFill>
                  <a:schemeClr val="tx1"/>
                </a:solidFill>
              </a:rPr>
              <a:t>served on ZeroGPU</a:t>
            </a:r>
            <a:endParaRPr lang="en-US" sz="1250" dirty="0"/>
          </a:p>
        </p:txBody>
      </p:sp>
      <p:sp>
        <p:nvSpPr>
          <p:cNvPr id="13" name="Text 11"/>
          <p:cNvSpPr txBox="1"/>
          <p:nvPr/>
        </p:nvSpPr>
        <p:spPr>
          <a:xfrm>
            <a:off x="7726680" y="3566160"/>
            <a:ext cx="2103120" cy="512064"/>
          </a:xfrm>
          <a:prstGeom prst="rect">
            <a:avLst/>
          </a:prstGeom>
          <a:noFill/>
          <a:ln/>
        </p:spPr>
        <p:txBody>
          <a:bodyPr wrap="square" lIns="0" tIns="0" rIns="0" bIns="0" rtlCol="0" anchor="ctr"/>
          <a:lstStyle/>
          <a:p>
            <a:pPr indent="0" marL="0">
              <a:buNone/>
            </a:pPr>
            <a:r>
              <a:rPr lang="en-US" sz="3000" b="1" dirty="0">
                <a:solidFill>
                  <a:srgbClr val="2C6D60"/>
                </a:solidFill>
                <a:latin typeface="Cambria" pitchFamily="34" charset="0"/>
                <a:ea typeface="Cambria" pitchFamily="34" charset="-122"/>
                <a:cs typeface="Cambria" pitchFamily="34" charset="-120"/>
              </a:rPr>
              <a:t>0.9336</a:t>
            </a:r>
            <a:endParaRPr lang="en-US" sz="3000" dirty="0"/>
          </a:p>
        </p:txBody>
      </p:sp>
      <p:sp>
        <p:nvSpPr>
          <p:cNvPr id="14" name="Text 12"/>
          <p:cNvSpPr txBox="1"/>
          <p:nvPr/>
        </p:nvSpPr>
        <p:spPr>
          <a:xfrm>
            <a:off x="7726680" y="4059936"/>
            <a:ext cx="2103120" cy="457200"/>
          </a:xfrm>
          <a:prstGeom prst="rect">
            <a:avLst/>
          </a:prstGeom>
          <a:noFill/>
          <a:ln/>
        </p:spPr>
        <p:txBody>
          <a:bodyPr wrap="square" lIns="0" tIns="0" rIns="0" bIns="0" rtlCol="0" anchor="t"/>
          <a:lstStyle/>
          <a:p>
            <a:pPr indent="0" marL="0">
              <a:buNone/>
            </a:pPr>
            <a:r>
              <a:rPr lang="en-US" sz="1050" dirty="0">
                <a:solidFill>
                  <a:srgbClr val="61655F"/>
                </a:solidFill>
              </a:rPr>
              <a:t>Task B macro F1,</a:t>
            </a:r>
            <a:endParaRPr lang="en-US" sz="1050" dirty="0"/>
          </a:p>
          <a:p>
            <a:pPr indent="0" marL="0">
              <a:buNone/>
            </a:pPr>
            <a:r>
              <a:rPr lang="en-US" sz="1050" dirty="0">
                <a:solidFill>
                  <a:srgbClr val="61655F"/>
                </a:solidFill>
              </a:rPr>
              <a:t>held-out components</a:t>
            </a:r>
            <a:endParaRPr lang="en-US" sz="1050" dirty="0"/>
          </a:p>
        </p:txBody>
      </p:sp>
      <p:sp>
        <p:nvSpPr>
          <p:cNvPr id="15" name="card"/>
          <p:cNvSpPr/>
          <p:nvPr/>
        </p:nvSpPr>
        <p:spPr>
          <a:xfrm>
            <a:off x="7726680" y="4443984"/>
            <a:ext cx="3931920" cy="1444752"/>
          </a:xfrm>
          <a:prstGeom prst="roundRect">
            <a:avLst>
              <a:gd name="adj" fmla="val 2532"/>
            </a:avLst>
          </a:prstGeom>
          <a:solidFill>
            <a:srgbClr val="E9EAE5"/>
          </a:solidFill>
          <a:ln w="12700">
            <a:solidFill>
              <a:srgbClr val="E9EAE5"/>
            </a:solidFill>
            <a:prstDash val="solid"/>
          </a:ln>
        </p:spPr>
      </p:sp>
      <p:sp>
        <p:nvSpPr>
          <p:cNvPr id="16" name="Text 14"/>
          <p:cNvSpPr txBox="1"/>
          <p:nvPr/>
        </p:nvSpPr>
        <p:spPr>
          <a:xfrm>
            <a:off x="7964424" y="4608576"/>
            <a:ext cx="345643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TODAY</a:t>
            </a:r>
            <a:endParaRPr lang="en-US" sz="1100" dirty="0"/>
          </a:p>
        </p:txBody>
      </p:sp>
      <p:sp>
        <p:nvSpPr>
          <p:cNvPr id="17" name="Text 15"/>
          <p:cNvSpPr txBox="1"/>
          <p:nvPr/>
        </p:nvSpPr>
        <p:spPr>
          <a:xfrm>
            <a:off x="7964424" y="4919472"/>
            <a:ext cx="3456432" cy="786384"/>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Task C specificity 0.0000 → 1.0000. The abstain head had learned that the answer is always no, because every training row was a refusal. Balancing the corpus fixed it.</a:t>
            </a:r>
            <a:endParaRPr lang="en-US" sz="1250" dirty="0"/>
          </a:p>
        </p:txBody>
      </p:sp>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hip-A"/>
          <p:cNvSpPr/>
          <p:nvPr/>
        </p:nvSpPr>
        <p:spPr>
          <a:xfrm>
            <a:off x="502920" y="493776"/>
            <a:ext cx="475488" cy="475488"/>
          </a:xfrm>
          <a:prstGeom prst="roundRect">
            <a:avLst>
              <a:gd name="adj" fmla="val 19231"/>
            </a:avLst>
          </a:prstGeom>
          <a:solidFill>
            <a:srgbClr val="1C244B"/>
          </a:solidFill>
          <a:ln w="12700">
            <a:solidFill>
              <a:srgbClr val="1C244B"/>
            </a:solidFill>
            <a:prstDash val="solid"/>
          </a:ln>
        </p:spPr>
      </p:sp>
      <p:sp>
        <p:nvSpPr>
          <p:cNvPr id="3" name="Text 1"/>
          <p:cNvSpPr txBox="1"/>
          <p:nvPr/>
        </p:nvSpPr>
        <p:spPr>
          <a:xfrm>
            <a:off x="502920" y="4937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a:t>
            </a:r>
            <a:endParaRPr lang="en-US" sz="1800" dirty="0"/>
          </a:p>
        </p:txBody>
      </p:sp>
      <p:sp>
        <p:nvSpPr>
          <p:cNvPr id="4" name="Text 2"/>
          <p:cNvSpPr txBox="1"/>
          <p:nvPr/>
        </p:nvSpPr>
        <p:spPr>
          <a:xfrm>
            <a:off x="1161288" y="457200"/>
            <a:ext cx="10497312"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Glue Atlas</a:t>
            </a:r>
            <a:endParaRPr lang="en-US" sz="3200" dirty="0"/>
          </a:p>
        </p:txBody>
      </p:sp>
      <p:sp>
        <p:nvSpPr>
          <p:cNvPr id="5" name="Text 3"/>
          <p:cNvSpPr txBox="1"/>
          <p:nvPr/>
        </p:nvSpPr>
        <p:spPr>
          <a:xfrm>
            <a:off x="502920" y="1133856"/>
            <a:ext cx="11155680" cy="384048"/>
          </a:xfrm>
          <a:prstGeom prst="rect">
            <a:avLst/>
          </a:prstGeom>
          <a:noFill/>
          <a:ln/>
        </p:spPr>
        <p:txBody>
          <a:bodyPr wrap="square" lIns="0" tIns="0" rIns="0" bIns="0" rtlCol="0" anchor="ctr"/>
          <a:lstStyle/>
          <a:p>
            <a:pPr indent="0" marL="0">
              <a:buNone/>
            </a:pPr>
            <a:r>
              <a:rPr lang="en-US" sz="1450" i="1" dirty="0">
                <a:solidFill>
                  <a:srgbClr val="A64708"/>
                </a:solidFill>
              </a:rPr>
              <a:t>Which deposited ligands already bridge two proteins, and which chemotypes nobody has written up.</a:t>
            </a:r>
            <a:endParaRPr lang="en-US" sz="1450" dirty="0"/>
          </a:p>
        </p:txBody>
      </p:sp>
      <p:sp>
        <p:nvSpPr>
          <p:cNvPr id="6" name="Text 4"/>
          <p:cNvSpPr txBox="1"/>
          <p:nvPr/>
        </p:nvSpPr>
        <p:spPr>
          <a:xfrm>
            <a:off x="502920" y="1609344"/>
            <a:ext cx="2194560" cy="512064"/>
          </a:xfrm>
          <a:prstGeom prst="rect">
            <a:avLst/>
          </a:prstGeom>
          <a:noFill/>
          <a:ln/>
        </p:spPr>
        <p:txBody>
          <a:bodyPr wrap="square" lIns="0" tIns="0" rIns="0" bIns="0" rtlCol="0" anchor="ctr"/>
          <a:lstStyle/>
          <a:p>
            <a:pPr indent="0" marL="0">
              <a:buNone/>
            </a:pPr>
            <a:r>
              <a:rPr lang="en-US" sz="3000" b="1" dirty="0">
                <a:solidFill>
                  <a:srgbClr val="A64708"/>
                </a:solidFill>
                <a:latin typeface="Cambria" pitchFamily="34" charset="0"/>
                <a:ea typeface="Cambria" pitchFamily="34" charset="-122"/>
                <a:cs typeface="Cambria" pitchFamily="34" charset="-120"/>
              </a:rPr>
              <a:t>285,996</a:t>
            </a:r>
            <a:endParaRPr lang="en-US" sz="3000" dirty="0"/>
          </a:p>
        </p:txBody>
      </p:sp>
      <p:sp>
        <p:nvSpPr>
          <p:cNvPr id="7" name="Text 5"/>
          <p:cNvSpPr txBox="1"/>
          <p:nvPr/>
        </p:nvSpPr>
        <p:spPr>
          <a:xfrm>
            <a:off x="502920" y="2103120"/>
            <a:ext cx="2194560" cy="457200"/>
          </a:xfrm>
          <a:prstGeom prst="rect">
            <a:avLst/>
          </a:prstGeom>
          <a:noFill/>
          <a:ln/>
        </p:spPr>
        <p:txBody>
          <a:bodyPr wrap="square" lIns="0" tIns="0" rIns="0" bIns="0" rtlCol="0" anchor="t"/>
          <a:lstStyle/>
          <a:p>
            <a:pPr indent="0" marL="0">
              <a:buNone/>
            </a:pPr>
            <a:r>
              <a:rPr lang="en-US" sz="1050" dirty="0">
                <a:solidFill>
                  <a:srgbClr val="61655F"/>
                </a:solidFill>
              </a:rPr>
              <a:t>bridges</a:t>
            </a:r>
            <a:endParaRPr lang="en-US" sz="1050" dirty="0"/>
          </a:p>
        </p:txBody>
      </p:sp>
      <p:sp>
        <p:nvSpPr>
          <p:cNvPr id="8" name="Text 6"/>
          <p:cNvSpPr txBox="1"/>
          <p:nvPr/>
        </p:nvSpPr>
        <p:spPr>
          <a:xfrm>
            <a:off x="2880360" y="1609344"/>
            <a:ext cx="2377440" cy="512064"/>
          </a:xfrm>
          <a:prstGeom prst="rect">
            <a:avLst/>
          </a:prstGeom>
          <a:noFill/>
          <a:ln/>
        </p:spPr>
        <p:txBody>
          <a:bodyPr wrap="square" lIns="0" tIns="0" rIns="0" bIns="0" rtlCol="0" anchor="ctr"/>
          <a:lstStyle/>
          <a:p>
            <a:pPr indent="0" marL="0">
              <a:buNone/>
            </a:pPr>
            <a:r>
              <a:rPr lang="en-US" sz="3000" b="1" dirty="0">
                <a:solidFill>
                  <a:srgbClr val="A64708"/>
                </a:solidFill>
                <a:latin typeface="Cambria" pitchFamily="34" charset="0"/>
                <a:ea typeface="Cambria" pitchFamily="34" charset="-122"/>
                <a:cs typeface="Cambria" pitchFamily="34" charset="-120"/>
              </a:rPr>
              <a:t>15,804</a:t>
            </a:r>
            <a:endParaRPr lang="en-US" sz="3000" dirty="0"/>
          </a:p>
        </p:txBody>
      </p:sp>
      <p:sp>
        <p:nvSpPr>
          <p:cNvPr id="9" name="Text 7"/>
          <p:cNvSpPr txBox="1"/>
          <p:nvPr/>
        </p:nvSpPr>
        <p:spPr>
          <a:xfrm>
            <a:off x="2880360" y="2103120"/>
            <a:ext cx="2377440" cy="457200"/>
          </a:xfrm>
          <a:prstGeom prst="rect">
            <a:avLst/>
          </a:prstGeom>
          <a:noFill/>
          <a:ln/>
        </p:spPr>
        <p:txBody>
          <a:bodyPr wrap="square" lIns="0" tIns="0" rIns="0" bIns="0" rtlCol="0" anchor="t"/>
          <a:lstStyle/>
          <a:p>
            <a:pPr indent="0" marL="0">
              <a:buNone/>
            </a:pPr>
            <a:r>
              <a:rPr lang="en-US" sz="1050" dirty="0">
                <a:solidFill>
                  <a:srgbClr val="61655F"/>
                </a:solidFill>
              </a:rPr>
              <a:t>listed by no glue database</a:t>
            </a:r>
            <a:endParaRPr lang="en-US" sz="1050" dirty="0"/>
          </a:p>
        </p:txBody>
      </p:sp>
      <p:sp>
        <p:nvSpPr>
          <p:cNvPr id="10" name="Text 8"/>
          <p:cNvSpPr txBox="1"/>
          <p:nvPr/>
        </p:nvSpPr>
        <p:spPr>
          <a:xfrm>
            <a:off x="5532120" y="1609344"/>
            <a:ext cx="1828800" cy="512064"/>
          </a:xfrm>
          <a:prstGeom prst="rect">
            <a:avLst/>
          </a:prstGeom>
          <a:noFill/>
          <a:ln/>
        </p:spPr>
        <p:txBody>
          <a:bodyPr wrap="square" lIns="0" tIns="0" rIns="0" bIns="0" rtlCol="0" anchor="ctr"/>
          <a:lstStyle/>
          <a:p>
            <a:pPr indent="0" marL="0">
              <a:buNone/>
            </a:pPr>
            <a:r>
              <a:rPr lang="en-US" sz="3000" b="1" dirty="0">
                <a:solidFill>
                  <a:srgbClr val="2C6D60"/>
                </a:solidFill>
                <a:latin typeface="Cambria" pitchFamily="34" charset="0"/>
                <a:ea typeface="Cambria" pitchFamily="34" charset="-122"/>
                <a:cs typeface="Cambria" pitchFamily="34" charset="-120"/>
              </a:rPr>
              <a:t>82</a:t>
            </a:r>
            <a:endParaRPr lang="en-US" sz="3000" dirty="0"/>
          </a:p>
        </p:txBody>
      </p:sp>
      <p:sp>
        <p:nvSpPr>
          <p:cNvPr id="11" name="Text 9"/>
          <p:cNvSpPr txBox="1"/>
          <p:nvPr/>
        </p:nvSpPr>
        <p:spPr>
          <a:xfrm>
            <a:off x="5532120" y="2103120"/>
            <a:ext cx="1828800" cy="457200"/>
          </a:xfrm>
          <a:prstGeom prst="rect">
            <a:avLst/>
          </a:prstGeom>
          <a:noFill/>
          <a:ln/>
        </p:spPr>
        <p:txBody>
          <a:bodyPr wrap="square" lIns="0" tIns="0" rIns="0" bIns="0" rtlCol="0" anchor="t"/>
          <a:lstStyle/>
          <a:p>
            <a:pPr indent="0" marL="0">
              <a:buNone/>
            </a:pPr>
            <a:r>
              <a:rPr lang="en-US" sz="1050" dirty="0">
                <a:solidFill>
                  <a:srgbClr val="61655F"/>
                </a:solidFill>
              </a:rPr>
              <a:t>novel series</a:t>
            </a:r>
            <a:endParaRPr lang="en-US" sz="1050" dirty="0"/>
          </a:p>
        </p:txBody>
      </p:sp>
      <p:sp>
        <p:nvSpPr>
          <p:cNvPr id="12" name="Text 10"/>
          <p:cNvSpPr txBox="1"/>
          <p:nvPr/>
        </p:nvSpPr>
        <p:spPr>
          <a:xfrm>
            <a:off x="7818120" y="1609344"/>
            <a:ext cx="2560320" cy="512064"/>
          </a:xfrm>
          <a:prstGeom prst="rect">
            <a:avLst/>
          </a:prstGeom>
          <a:noFill/>
          <a:ln/>
        </p:spPr>
        <p:txBody>
          <a:bodyPr wrap="square" lIns="0" tIns="0" rIns="0" bIns="0" rtlCol="0" anchor="ctr"/>
          <a:lstStyle/>
          <a:p>
            <a:pPr indent="0" marL="0">
              <a:buNone/>
            </a:pPr>
            <a:r>
              <a:rPr lang="en-US" sz="3000" b="1" dirty="0">
                <a:solidFill>
                  <a:srgbClr val="2C6D60"/>
                </a:solidFill>
                <a:latin typeface="Cambria" pitchFamily="34" charset="0"/>
                <a:ea typeface="Cambria" pitchFamily="34" charset="-122"/>
                <a:cs typeface="Cambria" pitchFamily="34" charset="-120"/>
              </a:rPr>
              <a:t>0.8781</a:t>
            </a:r>
            <a:endParaRPr lang="en-US" sz="3000" dirty="0"/>
          </a:p>
        </p:txBody>
      </p:sp>
      <p:sp>
        <p:nvSpPr>
          <p:cNvPr id="13" name="Text 11"/>
          <p:cNvSpPr txBox="1"/>
          <p:nvPr/>
        </p:nvSpPr>
        <p:spPr>
          <a:xfrm>
            <a:off x="7818120" y="2103120"/>
            <a:ext cx="2560320" cy="457200"/>
          </a:xfrm>
          <a:prstGeom prst="rect">
            <a:avLst/>
          </a:prstGeom>
          <a:noFill/>
          <a:ln/>
        </p:spPr>
        <p:txBody>
          <a:bodyPr wrap="square" lIns="0" tIns="0" rIns="0" bIns="0" rtlCol="0" anchor="t"/>
          <a:lstStyle/>
          <a:p>
            <a:pPr indent="0" marL="0">
              <a:buNone/>
            </a:pPr>
            <a:r>
              <a:rPr lang="en-US" sz="1050" dirty="0">
                <a:solidFill>
                  <a:srgbClr val="61655F"/>
                </a:solidFill>
              </a:rPr>
              <a:t>recall vs 320 curated glues</a:t>
            </a:r>
            <a:endParaRPr lang="en-US" sz="1050" dirty="0"/>
          </a:p>
          <a:p>
            <a:pPr indent="0" marL="0">
              <a:buNone/>
            </a:pPr>
            <a:r>
              <a:rPr lang="en-US" sz="1050" dirty="0">
                <a:solidFill>
                  <a:srgbClr val="61655F"/>
                </a:solidFill>
              </a:rPr>
              <a:t>(floor 0.85)</a:t>
            </a:r>
            <a:endParaRPr lang="en-US" sz="1050" dirty="0"/>
          </a:p>
        </p:txBody>
      </p:sp>
      <p:sp>
        <p:nvSpPr>
          <p:cNvPr id="14" name="Text 12"/>
          <p:cNvSpPr txBox="1"/>
          <p:nvPr/>
        </p:nvSpPr>
        <p:spPr>
          <a:xfrm>
            <a:off x="502920" y="2688336"/>
            <a:ext cx="6858000" cy="2157984"/>
          </a:xfrm>
          <a:prstGeom prst="rect">
            <a:avLst/>
          </a:prstGeom>
          <a:noFill/>
          <a:ln/>
        </p:spPr>
        <p:txBody>
          <a:bodyPr wrap="square" lIns="0" tIns="0" rIns="0" bIns="0" rtlCol="0" anchor="t"/>
          <a:lstStyle/>
          <a:p>
            <a:pPr indent="0" marL="0">
              <a:lnSpc>
                <a:spcPct val="118000"/>
              </a:lnSpc>
              <a:buNone/>
            </a:pPr>
            <a:r>
              <a:rPr lang="en-US" sz="1350" b="1" dirty="0">
                <a:solidFill>
                  <a:schemeClr val="tx1"/>
                </a:solidFill>
              </a:rPr>
              <a:t>The finding that matters most.</a:t>
            </a:r>
            <a:pPr indent="0" marL="0">
              <a:lnSpc>
                <a:spcPct val="118000"/>
              </a:lnSpc>
              <a:buNone/>
            </a:pPr>
            <a:r>
              <a:rPr lang="en-US" sz="1350" dirty="0">
                <a:solidFill>
                  <a:schemeClr val="tx1"/>
                </a:solidFill>
              </a:rPr>
              <a:t> Clustered on the protein pair they bridge rather than on their chemistry, the novel bridges resolve into </a:t>
            </a:r>
            <a:pPr indent="0" marL="0">
              <a:lnSpc>
                <a:spcPct val="118000"/>
              </a:lnSpc>
              <a:buNone/>
            </a:pPr>
            <a:r>
              <a:rPr lang="en-US" sz="1350" b="1" dirty="0">
                <a:solidFill>
                  <a:schemeClr val="tx1"/>
                </a:solidFill>
              </a:rPr>
              <a:t>82 protein pairs carrying three or more distinct ligands each</a:t>
            </a:r>
            <a:pPr indent="0" marL="0">
              <a:lnSpc>
                <a:spcPct val="118000"/>
              </a:lnSpc>
              <a:buNone/>
            </a:pPr>
            <a:r>
              <a:rPr lang="en-US" sz="1350" dirty="0">
                <a:solidFill>
                  <a:schemeClr val="tx1"/>
                </a:solidFill>
              </a:rPr>
              <a:t> — a medicinal chemistry series somebody is already running, visible in the PDB and absent from every curated database. The largest is 14-3-3σ with p65: 34 ligands over 34 entries.</a:t>
            </a:r>
            <a:endParaRPr lang="en-US" sz="1350" dirty="0"/>
          </a:p>
          <a:p>
            <a:pPr algn="r" indent="0" marL="0">
              <a:lnSpc>
                <a:spcPct val="118000"/>
              </a:lnSpc>
              <a:buNone/>
            </a:pPr>
            <a:endParaRPr lang="en-US" sz="1350" dirty="0"/>
          </a:p>
          <a:p>
            <a:pPr algn="r" indent="0" marL="0">
              <a:lnSpc>
                <a:spcPct val="118000"/>
              </a:lnSpc>
              <a:buNone/>
            </a:pPr>
            <a:endParaRPr lang="en-US" sz="1350" dirty="0"/>
          </a:p>
          <a:p>
            <a:pPr indent="0" marL="0">
              <a:lnSpc>
                <a:spcPct val="118000"/>
              </a:lnSpc>
              <a:buNone/>
            </a:pPr>
            <a:r>
              <a:rPr lang="en-US" sz="1350" dirty="0">
                <a:solidFill>
                  <a:schemeClr val="tx1"/>
                </a:solidFill>
              </a:rPr>
              <a:t>As a control it recovered the </a:t>
            </a:r>
            <a:pPr indent="0" marL="0">
              <a:lnSpc>
                <a:spcPct val="118000"/>
              </a:lnSpc>
              <a:buNone/>
            </a:pPr>
            <a:r>
              <a:rPr lang="en-US" sz="1350" b="1" dirty="0">
                <a:solidFill>
                  <a:schemeClr val="tx1"/>
                </a:solidFill>
              </a:rPr>
              <a:t>RAS(ON) tri-complex glues</a:t>
            </a:r>
            <a:pPr indent="0" marL="0">
              <a:lnSpc>
                <a:spcPct val="118000"/>
              </a:lnSpc>
              <a:buNone/>
            </a:pPr>
            <a:r>
              <a:rPr lang="en-US" sz="1350" dirty="0">
                <a:solidFill>
                  <a:schemeClr val="tx1"/>
                </a:solidFill>
              </a:rPr>
              <a:t> unprompted, and a real cereblon degrader series on the Helios zinc fingers that no database lists.</a:t>
            </a:r>
            <a:endParaRPr lang="en-US" sz="1350" dirty="0"/>
          </a:p>
        </p:txBody>
      </p:sp>
      <p:sp>
        <p:nvSpPr>
          <p:cNvPr id="15" name="card"/>
          <p:cNvSpPr/>
          <p:nvPr/>
        </p:nvSpPr>
        <p:spPr>
          <a:xfrm>
            <a:off x="502920" y="4919472"/>
            <a:ext cx="6858000" cy="1444752"/>
          </a:xfrm>
          <a:prstGeom prst="roundRect">
            <a:avLst>
              <a:gd name="adj" fmla="val 2532"/>
            </a:avLst>
          </a:prstGeom>
          <a:solidFill>
            <a:srgbClr val="E9EAE5"/>
          </a:solidFill>
          <a:ln w="12700">
            <a:solidFill>
              <a:srgbClr val="E9EAE5"/>
            </a:solidFill>
            <a:prstDash val="solid"/>
          </a:ln>
        </p:spPr>
      </p:sp>
      <p:sp>
        <p:nvSpPr>
          <p:cNvPr id="16" name="Text 14"/>
          <p:cNvSpPr txBox="1"/>
          <p:nvPr/>
        </p:nvSpPr>
        <p:spPr>
          <a:xfrm>
            <a:off x="740664" y="5084064"/>
            <a:ext cx="638251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EVERY SERIES CARRIES TWO MEASUREMENTS, NOT A VERDICT</a:t>
            </a:r>
            <a:endParaRPr lang="en-US" sz="1100" dirty="0"/>
          </a:p>
        </p:txBody>
      </p:sp>
      <p:sp>
        <p:nvSpPr>
          <p:cNvPr id="17" name="Text 15"/>
          <p:cNvSpPr txBox="1"/>
          <p:nvPr/>
        </p:nvSpPr>
        <p:spPr>
          <a:xfrm>
            <a:off x="740664" y="5394960"/>
            <a:ext cx="6382512" cy="786384"/>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Ligand share — how much of the interface the ligand buries, against how much the two chains bury on each other.</a:t>
            </a:r>
            <a:endParaRPr lang="en-US" sz="1250" dirty="0"/>
          </a:p>
          <a:p>
            <a:pPr indent="0" marL="0">
              <a:spcAft>
                <a:spcPts val="500"/>
              </a:spcAft>
              <a:buNone/>
            </a:pPr>
            <a:r>
              <a:rPr lang="en-US" sz="1250" dirty="0">
                <a:solidFill>
                  <a:schemeClr val="tx1"/>
                </a:solidFill>
              </a:rPr>
              <a:t>Interface retained — what survives in a structure holding both proteins and none of that series' ligands.</a:t>
            </a:r>
            <a:endParaRPr lang="en-US" sz="1250" dirty="0"/>
          </a:p>
        </p:txBody>
      </p:sp>
      <p:sp>
        <p:nvSpPr>
          <p:cNvPr id="18" name="card"/>
          <p:cNvSpPr/>
          <p:nvPr/>
        </p:nvSpPr>
        <p:spPr>
          <a:xfrm>
            <a:off x="7726680" y="2743200"/>
            <a:ext cx="3931920" cy="2395728"/>
          </a:xfrm>
          <a:prstGeom prst="roundRect">
            <a:avLst>
              <a:gd name="adj" fmla="val 1527"/>
            </a:avLst>
          </a:prstGeom>
          <a:solidFill>
            <a:srgbClr val="E9EAE5"/>
          </a:solidFill>
          <a:ln w="12700">
            <a:solidFill>
              <a:srgbClr val="E9EAE5"/>
            </a:solidFill>
            <a:prstDash val="solid"/>
          </a:ln>
        </p:spPr>
      </p:sp>
      <p:sp>
        <p:nvSpPr>
          <p:cNvPr id="19" name="Text 17"/>
          <p:cNvSpPr txBox="1"/>
          <p:nvPr/>
        </p:nvSpPr>
        <p:spPr>
          <a:xfrm>
            <a:off x="7964424" y="2907792"/>
            <a:ext cx="345643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WORKED EXAMPLE</a:t>
            </a:r>
            <a:endParaRPr lang="en-US" sz="1100" dirty="0"/>
          </a:p>
        </p:txBody>
      </p:sp>
      <p:sp>
        <p:nvSpPr>
          <p:cNvPr id="20" name="Text 18"/>
          <p:cNvSpPr txBox="1"/>
          <p:nvPr/>
        </p:nvSpPr>
        <p:spPr>
          <a:xfrm>
            <a:off x="7964424" y="3218688"/>
            <a:ext cx="3456432" cy="1737360"/>
          </a:xfrm>
          <a:prstGeom prst="rect">
            <a:avLst/>
          </a:prstGeom>
          <a:noFill/>
          <a:ln/>
        </p:spPr>
        <p:txBody>
          <a:bodyPr wrap="square" lIns="0" tIns="0" rIns="0" bIns="0" rtlCol="0" anchor="t"/>
          <a:lstStyle/>
          <a:p>
            <a:pPr indent="0" marL="0">
              <a:spcAft>
                <a:spcPts val="500"/>
              </a:spcAft>
              <a:buNone/>
            </a:pPr>
            <a:r>
              <a:rPr lang="en-US" sz="1250" b="1" dirty="0">
                <a:solidFill>
                  <a:schemeClr val="tx1"/>
                </a:solidFill>
              </a:rPr>
              <a:t>9OHL · ligand A1CBE</a:t>
            </a:r>
            <a:endParaRPr lang="en-US" sz="1250" dirty="0"/>
          </a:p>
          <a:p>
            <a:pPr indent="0" marL="0">
              <a:spcAft>
                <a:spcPts val="500"/>
              </a:spcAft>
              <a:buNone/>
            </a:pPr>
            <a:r>
              <a:rPr lang="en-US" sz="1250" dirty="0">
                <a:solidFill>
                  <a:schemeClr val="tx1"/>
                </a:solidFill>
              </a:rPr>
              <a:t>METTL5, an rRNA methyltransferase, and TRMT112, the subunit it needs to be active. One small molecule between them, 1.29 Å, deposited June 2025, called a glue by nobody.</a:t>
            </a:r>
            <a:endParaRPr lang="en-US" sz="1250" dirty="0"/>
          </a:p>
          <a:p>
            <a:pPr indent="0" marL="0">
              <a:spcAft>
                <a:spcPts val="500"/>
              </a:spcAft>
              <a:buNone/>
            </a:pPr>
            <a:r>
              <a:rPr lang="en-US" sz="1250" b="1" dirty="0">
                <a:solidFill>
                  <a:schemeClr val="tx1"/>
                </a:solidFill>
              </a:rPr>
              <a:t>442 and 581 Å² against the two chains</a:t>
            </a:r>
            <a:endParaRPr lang="en-US" sz="1250" dirty="0"/>
          </a:p>
          <a:p>
            <a:pPr indent="0" marL="0">
              <a:spcAft>
                <a:spcPts val="500"/>
              </a:spcAft>
              <a:buNone/>
            </a:pPr>
            <a:r>
              <a:rPr lang="en-US" sz="1250" b="1" dirty="0">
                <a:solidFill>
                  <a:schemeClr val="tx1"/>
                </a:solidFill>
              </a:rPr>
              <a:t>balance 0.761 · 79% of the ligand buried</a:t>
            </a:r>
            <a:endParaRPr lang="en-US" sz="1250" dirty="0"/>
          </a:p>
        </p:txBody>
      </p:sp>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hip-B"/>
          <p:cNvSpPr/>
          <p:nvPr/>
        </p:nvSpPr>
        <p:spPr>
          <a:xfrm>
            <a:off x="502920" y="493776"/>
            <a:ext cx="475488" cy="475488"/>
          </a:xfrm>
          <a:prstGeom prst="roundRect">
            <a:avLst>
              <a:gd name="adj" fmla="val 19231"/>
            </a:avLst>
          </a:prstGeom>
          <a:solidFill>
            <a:srgbClr val="1C244B"/>
          </a:solidFill>
          <a:ln w="12700">
            <a:solidFill>
              <a:srgbClr val="1C244B"/>
            </a:solidFill>
            <a:prstDash val="solid"/>
          </a:ln>
        </p:spPr>
      </p:sp>
      <p:sp>
        <p:nvSpPr>
          <p:cNvPr id="3" name="Text 1"/>
          <p:cNvSpPr txBox="1"/>
          <p:nvPr/>
        </p:nvSpPr>
        <p:spPr>
          <a:xfrm>
            <a:off x="502920" y="4937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B</a:t>
            </a:r>
            <a:endParaRPr lang="en-US" sz="1800" dirty="0"/>
          </a:p>
        </p:txBody>
      </p:sp>
      <p:sp>
        <p:nvSpPr>
          <p:cNvPr id="4" name="Text 2"/>
          <p:cNvSpPr txBox="1"/>
          <p:nvPr/>
        </p:nvSpPr>
        <p:spPr>
          <a:xfrm>
            <a:off x="1161288" y="457200"/>
            <a:ext cx="10497312"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Degron Scan</a:t>
            </a:r>
            <a:endParaRPr lang="en-US" sz="3200" dirty="0"/>
          </a:p>
        </p:txBody>
      </p:sp>
      <p:sp>
        <p:nvSpPr>
          <p:cNvPr id="5" name="Text 3"/>
          <p:cNvSpPr txBox="1"/>
          <p:nvPr/>
        </p:nvSpPr>
        <p:spPr>
          <a:xfrm>
            <a:off x="502920" y="1133856"/>
            <a:ext cx="11155680" cy="384048"/>
          </a:xfrm>
          <a:prstGeom prst="rect">
            <a:avLst/>
          </a:prstGeom>
          <a:noFill/>
          <a:ln/>
        </p:spPr>
        <p:txBody>
          <a:bodyPr wrap="square" lIns="0" tIns="0" rIns="0" bIns="0" rtlCol="0" anchor="ctr"/>
          <a:lstStyle/>
          <a:p>
            <a:pPr indent="0" marL="0">
              <a:buNone/>
            </a:pPr>
            <a:r>
              <a:rPr lang="en-US" sz="1450" i="1" dirty="0">
                <a:solidFill>
                  <a:srgbClr val="A64708"/>
                </a:solidFill>
              </a:rPr>
              <a:t>Which human proteins carry the shape cereblon reads?</a:t>
            </a:r>
            <a:endParaRPr lang="en-US" sz="1450" dirty="0"/>
          </a:p>
        </p:txBody>
      </p:sp>
      <p:sp>
        <p:nvSpPr>
          <p:cNvPr id="6" name="Text 4"/>
          <p:cNvSpPr txBox="1"/>
          <p:nvPr/>
        </p:nvSpPr>
        <p:spPr>
          <a:xfrm>
            <a:off x="502920" y="1609344"/>
            <a:ext cx="6858000" cy="3200400"/>
          </a:xfrm>
          <a:prstGeom prst="rect">
            <a:avLst/>
          </a:prstGeom>
          <a:noFill/>
          <a:ln/>
        </p:spPr>
        <p:txBody>
          <a:bodyPr wrap="square" lIns="0" tIns="0" rIns="0" bIns="0" rtlCol="0" anchor="t"/>
          <a:lstStyle/>
          <a:p>
            <a:pPr indent="0" marL="0">
              <a:lnSpc>
                <a:spcPct val="118000"/>
              </a:lnSpc>
              <a:buNone/>
            </a:pPr>
            <a:r>
              <a:rPr lang="en-US" sz="1350" b="1" dirty="0">
                <a:solidFill>
                  <a:schemeClr val="tx1"/>
                </a:solidFill>
              </a:rPr>
              <a:t>The science.</a:t>
            </a:r>
            <a:pPr indent="0" marL="0">
              <a:lnSpc>
                <a:spcPct val="118000"/>
              </a:lnSpc>
              <a:buNone/>
            </a:pPr>
            <a:r>
              <a:rPr lang="en-US" sz="1350" dirty="0">
                <a:solidFill>
                  <a:schemeClr val="tx1"/>
                </a:solidFill>
              </a:rPr>
              <a:t> CRBN neosubstrate recognition is a β-hairpin presenting a glycine at its tip. The scan looks for that geometry across the AlphaFold human proteome, then asks whether geometry actually predicts degradation.</a:t>
            </a:r>
            <a:endParaRPr lang="en-US" sz="1350" dirty="0"/>
          </a:p>
          <a:p>
            <a:pPr algn="r" indent="0" marL="0">
              <a:lnSpc>
                <a:spcPct val="118000"/>
              </a:lnSpc>
              <a:buNone/>
            </a:pPr>
            <a:endParaRPr lang="en-US" sz="1350" dirty="0"/>
          </a:p>
          <a:p>
            <a:pPr algn="r" indent="0" marL="0">
              <a:lnSpc>
                <a:spcPct val="118000"/>
              </a:lnSpc>
              <a:buNone/>
            </a:pPr>
            <a:endParaRPr lang="en-US" sz="1350" dirty="0"/>
          </a:p>
          <a:p>
            <a:pPr indent="0" marL="0">
              <a:lnSpc>
                <a:spcPct val="118000"/>
              </a:lnSpc>
              <a:buNone/>
            </a:pPr>
            <a:r>
              <a:rPr lang="en-US" sz="1350" b="1" dirty="0">
                <a:solidFill>
                  <a:schemeClr val="tx1"/>
                </a:solidFill>
              </a:rPr>
              <a:t>It does not, and sequence does.</a:t>
            </a:r>
            <a:pPr indent="0" marL="0">
              <a:lnSpc>
                <a:spcPct val="118000"/>
              </a:lnSpc>
              <a:buNone/>
            </a:pPr>
            <a:r>
              <a:rPr lang="en-US" sz="1350" dirty="0">
                <a:solidFill>
                  <a:schemeClr val="tx1"/>
                </a:solidFill>
              </a:rPr>
              <a:t> On a gene-disjoint split, the sequence model scores </a:t>
            </a:r>
            <a:pPr indent="0" marL="0">
              <a:lnSpc>
                <a:spcPct val="118000"/>
              </a:lnSpc>
              <a:buNone/>
            </a:pPr>
            <a:r>
              <a:rPr lang="en-US" sz="1350" b="1" dirty="0">
                <a:solidFill>
                  <a:schemeClr val="tx1"/>
                </a:solidFill>
              </a:rPr>
              <a:t>AUC 0.6334</a:t>
            </a:r>
            <a:pPr indent="0" marL="0">
              <a:lnSpc>
                <a:spcPct val="118000"/>
              </a:lnSpc>
              <a:buNone/>
            </a:pPr>
            <a:r>
              <a:rPr lang="en-US" sz="1350" dirty="0">
                <a:solidFill>
                  <a:schemeClr val="tx1"/>
                </a:solidFill>
              </a:rPr>
              <a:t> against geometry's </a:t>
            </a:r>
            <a:pPr indent="0" marL="0">
              <a:lnSpc>
                <a:spcPct val="118000"/>
              </a:lnSpc>
              <a:buNone/>
            </a:pPr>
            <a:r>
              <a:rPr lang="en-US" sz="1350" b="1" dirty="0">
                <a:solidFill>
                  <a:schemeClr val="tx1"/>
                </a:solidFill>
              </a:rPr>
              <a:t>0.5564</a:t>
            </a:r>
            <a:pPr indent="0" marL="0">
              <a:lnSpc>
                <a:spcPct val="118000"/>
              </a:lnSpc>
              <a:buNone/>
            </a:pPr>
            <a:r>
              <a:rPr lang="en-US" sz="1350" dirty="0">
                <a:solidFill>
                  <a:schemeClr val="tx1"/>
                </a:solidFill>
              </a:rPr>
              <a:t>. Combining them adds 0.0014, which is inside the split-to-split noise. That is reported, not buried.</a:t>
            </a:r>
            <a:endParaRPr lang="en-US" sz="1350" dirty="0"/>
          </a:p>
          <a:p>
            <a:pPr algn="r" indent="0" marL="0">
              <a:lnSpc>
                <a:spcPct val="118000"/>
              </a:lnSpc>
              <a:buNone/>
            </a:pPr>
            <a:endParaRPr lang="en-US" sz="1350" dirty="0"/>
          </a:p>
          <a:p>
            <a:pPr algn="r" indent="0" marL="0">
              <a:lnSpc>
                <a:spcPct val="118000"/>
              </a:lnSpc>
              <a:buNone/>
            </a:pPr>
            <a:endParaRPr lang="en-US" sz="1350" dirty="0"/>
          </a:p>
          <a:p>
            <a:pPr indent="0" marL="0">
              <a:lnSpc>
                <a:spcPct val="118000"/>
              </a:lnSpc>
              <a:buNone/>
            </a:pPr>
            <a:r>
              <a:rPr lang="en-US" sz="1350" b="1" dirty="0">
                <a:solidFill>
                  <a:schemeClr val="tx1"/>
                </a:solidFill>
              </a:rPr>
              <a:t>The grammar transfers across chemistry.</a:t>
            </a:r>
            <a:pPr indent="0" marL="0">
              <a:lnSpc>
                <a:spcPct val="118000"/>
              </a:lnSpc>
              <a:buNone/>
            </a:pPr>
            <a:r>
              <a:rPr lang="en-US" sz="1350" dirty="0">
                <a:solidFill>
                  <a:schemeClr val="tx1"/>
                </a:solidFill>
              </a:rPr>
              <a:t> Trained on pomalidomide alone, the model is above chance on </a:t>
            </a:r>
            <a:pPr indent="0" marL="0">
              <a:lnSpc>
                <a:spcPct val="118000"/>
              </a:lnSpc>
              <a:buNone/>
            </a:pPr>
            <a:r>
              <a:rPr lang="en-US" sz="1350" b="1" dirty="0">
                <a:solidFill>
                  <a:schemeClr val="tx1"/>
                </a:solidFill>
              </a:rPr>
              <a:t>24 of 29 analogues</a:t>
            </a:r>
            <a:pPr indent="0" marL="0">
              <a:lnSpc>
                <a:spcPct val="118000"/>
              </a:lnSpc>
              <a:buNone/>
            </a:pPr>
            <a:r>
              <a:rPr lang="en-US" sz="1350" dirty="0">
                <a:solidFill>
                  <a:schemeClr val="tx1"/>
                </a:solidFill>
              </a:rPr>
              <a:t> of a published screen, gene-disjoint, mean AUC </a:t>
            </a:r>
            <a:pPr indent="0" marL="0">
              <a:lnSpc>
                <a:spcPct val="118000"/>
              </a:lnSpc>
              <a:buNone/>
            </a:pPr>
            <a:r>
              <a:rPr lang="en-US" sz="1350" b="1" dirty="0">
                <a:solidFill>
                  <a:schemeClr val="tx1"/>
                </a:solidFill>
              </a:rPr>
              <a:t>0.779</a:t>
            </a:r>
            <a:pPr indent="0" marL="0">
              <a:lnSpc>
                <a:spcPct val="118000"/>
              </a:lnSpc>
              <a:buNone/>
            </a:pPr>
            <a:r>
              <a:rPr lang="en-US" sz="1350" dirty="0">
                <a:solidFill>
                  <a:schemeClr val="tx1"/>
                </a:solidFill>
              </a:rPr>
              <a:t>, permutation p = 0.0005.</a:t>
            </a:r>
            <a:endParaRPr lang="en-US" sz="1350" dirty="0"/>
          </a:p>
        </p:txBody>
      </p:sp>
      <p:sp>
        <p:nvSpPr>
          <p:cNvPr id="7" name="card"/>
          <p:cNvSpPr/>
          <p:nvPr/>
        </p:nvSpPr>
        <p:spPr>
          <a:xfrm>
            <a:off x="7726680" y="1609344"/>
            <a:ext cx="3931920" cy="1737360"/>
          </a:xfrm>
          <a:prstGeom prst="roundRect">
            <a:avLst>
              <a:gd name="adj" fmla="val 2105"/>
            </a:avLst>
          </a:prstGeom>
          <a:solidFill>
            <a:srgbClr val="E9EAE5"/>
          </a:solidFill>
          <a:ln w="12700">
            <a:solidFill>
              <a:srgbClr val="E9EAE5"/>
            </a:solidFill>
            <a:prstDash val="solid"/>
          </a:ln>
        </p:spPr>
      </p:sp>
      <p:sp>
        <p:nvSpPr>
          <p:cNvPr id="8" name="Text 6"/>
          <p:cNvSpPr txBox="1"/>
          <p:nvPr/>
        </p:nvSpPr>
        <p:spPr>
          <a:xfrm>
            <a:off x="7964424" y="1773936"/>
            <a:ext cx="345643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SOFTWARE</a:t>
            </a:r>
            <a:endParaRPr lang="en-US" sz="1100" dirty="0"/>
          </a:p>
        </p:txBody>
      </p:sp>
      <p:sp>
        <p:nvSpPr>
          <p:cNvPr id="9" name="Text 7"/>
          <p:cNvSpPr txBox="1"/>
          <p:nvPr/>
        </p:nvSpPr>
        <p:spPr>
          <a:xfrm>
            <a:off x="7964424" y="2084832"/>
            <a:ext cx="3456432" cy="1078992"/>
          </a:xfrm>
          <a:prstGeom prst="rect">
            <a:avLst/>
          </a:prstGeom>
          <a:noFill/>
          <a:ln/>
        </p:spPr>
        <p:txBody>
          <a:bodyPr wrap="square" lIns="0" tIns="0" rIns="0" bIns="0" rtlCol="0" anchor="t"/>
          <a:lstStyle/>
          <a:p>
            <a:pPr indent="0" marL="0">
              <a:spcAft>
                <a:spcPts val="500"/>
              </a:spcAft>
              <a:buNone/>
            </a:pPr>
            <a:r>
              <a:rPr lang="en-US" sz="1250" b="1" dirty="0">
                <a:solidFill>
                  <a:schemeClr val="tx1"/>
                </a:solidFill>
              </a:rPr>
              <a:t>AlphaFold DB</a:t>
            </a:r>
            <a:endParaRPr lang="en-US" sz="1250" dirty="0"/>
          </a:p>
          <a:p>
            <a:pPr indent="0" marL="0">
              <a:spcAft>
                <a:spcPts val="500"/>
              </a:spcAft>
              <a:buNone/>
            </a:pPr>
            <a:r>
              <a:rPr lang="en-US" sz="1250" dirty="0">
                <a:solidFill>
                  <a:schemeClr val="tx1"/>
                </a:solidFill>
              </a:rPr>
              <a:t>predicted structures, with pLDDT as a confidence filter</a:t>
            </a:r>
            <a:endParaRPr lang="en-US" sz="1250" dirty="0"/>
          </a:p>
          <a:p>
            <a:pPr indent="0" marL="0">
              <a:spcAft>
                <a:spcPts val="500"/>
              </a:spcAft>
              <a:buNone/>
            </a:pPr>
            <a:r>
              <a:rPr lang="en-US" sz="1250" b="1" dirty="0">
                <a:solidFill>
                  <a:schemeClr val="tx1"/>
                </a:solidFill>
              </a:rPr>
              <a:t>DSSP</a:t>
            </a:r>
            <a:endParaRPr lang="en-US" sz="1250" dirty="0"/>
          </a:p>
          <a:p>
            <a:pPr indent="0" marL="0">
              <a:spcAft>
                <a:spcPts val="500"/>
              </a:spcAft>
              <a:buNone/>
            </a:pPr>
            <a:r>
              <a:rPr lang="en-US" sz="1250" dirty="0">
                <a:solidFill>
                  <a:schemeClr val="tx1"/>
                </a:solidFill>
              </a:rPr>
              <a:t>secondary structure assignment</a:t>
            </a:r>
            <a:endParaRPr lang="en-US" sz="1250" dirty="0"/>
          </a:p>
        </p:txBody>
      </p:sp>
      <p:sp>
        <p:nvSpPr>
          <p:cNvPr id="10" name="Text 8"/>
          <p:cNvSpPr txBox="1"/>
          <p:nvPr/>
        </p:nvSpPr>
        <p:spPr>
          <a:xfrm>
            <a:off x="7726680" y="3566160"/>
            <a:ext cx="2103120" cy="512064"/>
          </a:xfrm>
          <a:prstGeom prst="rect">
            <a:avLst/>
          </a:prstGeom>
          <a:noFill/>
          <a:ln/>
        </p:spPr>
        <p:txBody>
          <a:bodyPr wrap="square" lIns="0" tIns="0" rIns="0" bIns="0" rtlCol="0" anchor="ctr"/>
          <a:lstStyle/>
          <a:p>
            <a:pPr indent="0" marL="0">
              <a:buNone/>
            </a:pPr>
            <a:r>
              <a:rPr lang="en-US" sz="3000" b="1" dirty="0">
                <a:solidFill>
                  <a:srgbClr val="A64708"/>
                </a:solidFill>
                <a:latin typeface="Cambria" pitchFamily="34" charset="0"/>
                <a:ea typeface="Cambria" pitchFamily="34" charset="-122"/>
                <a:cs typeface="Cambria" pitchFamily="34" charset="-120"/>
              </a:rPr>
              <a:t>21,717</a:t>
            </a:r>
            <a:endParaRPr lang="en-US" sz="3000" dirty="0"/>
          </a:p>
        </p:txBody>
      </p:sp>
      <p:sp>
        <p:nvSpPr>
          <p:cNvPr id="11" name="Text 9"/>
          <p:cNvSpPr txBox="1"/>
          <p:nvPr/>
        </p:nvSpPr>
        <p:spPr>
          <a:xfrm>
            <a:off x="7726680" y="4059936"/>
            <a:ext cx="2103120" cy="457200"/>
          </a:xfrm>
          <a:prstGeom prst="rect">
            <a:avLst/>
          </a:prstGeom>
          <a:noFill/>
          <a:ln/>
        </p:spPr>
        <p:txBody>
          <a:bodyPr wrap="square" lIns="0" tIns="0" rIns="0" bIns="0" rtlCol="0" anchor="t"/>
          <a:lstStyle/>
          <a:p>
            <a:pPr indent="0" marL="0">
              <a:buNone/>
            </a:pPr>
            <a:r>
              <a:rPr lang="en-US" sz="1050" dirty="0">
                <a:solidFill>
                  <a:srgbClr val="61655F"/>
                </a:solidFill>
              </a:rPr>
              <a:t>degron candidates</a:t>
            </a:r>
            <a:endParaRPr lang="en-US" sz="1050" dirty="0"/>
          </a:p>
        </p:txBody>
      </p:sp>
      <p:sp>
        <p:nvSpPr>
          <p:cNvPr id="12" name="Text 10"/>
          <p:cNvSpPr txBox="1"/>
          <p:nvPr/>
        </p:nvSpPr>
        <p:spPr>
          <a:xfrm>
            <a:off x="10012680" y="3566160"/>
            <a:ext cx="1673352" cy="512064"/>
          </a:xfrm>
          <a:prstGeom prst="rect">
            <a:avLst/>
          </a:prstGeom>
          <a:noFill/>
          <a:ln/>
        </p:spPr>
        <p:txBody>
          <a:bodyPr wrap="square" lIns="0" tIns="0" rIns="0" bIns="0" rtlCol="0" anchor="ctr"/>
          <a:lstStyle/>
          <a:p>
            <a:pPr indent="0" marL="0">
              <a:buNone/>
            </a:pPr>
            <a:r>
              <a:rPr lang="en-US" sz="3000" b="1" dirty="0">
                <a:solidFill>
                  <a:srgbClr val="A64708"/>
                </a:solidFill>
                <a:latin typeface="Cambria" pitchFamily="34" charset="0"/>
                <a:ea typeface="Cambria" pitchFamily="34" charset="-122"/>
                <a:cs typeface="Cambria" pitchFamily="34" charset="-120"/>
              </a:rPr>
              <a:t>7,452</a:t>
            </a:r>
            <a:endParaRPr lang="en-US" sz="3000" dirty="0"/>
          </a:p>
        </p:txBody>
      </p:sp>
      <p:sp>
        <p:nvSpPr>
          <p:cNvPr id="13" name="Text 11"/>
          <p:cNvSpPr txBox="1"/>
          <p:nvPr/>
        </p:nvSpPr>
        <p:spPr>
          <a:xfrm>
            <a:off x="10012680" y="4059936"/>
            <a:ext cx="1673352" cy="457200"/>
          </a:xfrm>
          <a:prstGeom prst="rect">
            <a:avLst/>
          </a:prstGeom>
          <a:noFill/>
          <a:ln/>
        </p:spPr>
        <p:txBody>
          <a:bodyPr wrap="square" lIns="0" tIns="0" rIns="0" bIns="0" rtlCol="0" anchor="t"/>
          <a:lstStyle/>
          <a:p>
            <a:pPr indent="0" marL="0">
              <a:buNone/>
            </a:pPr>
            <a:r>
              <a:rPr lang="en-US" sz="1050" dirty="0">
                <a:solidFill>
                  <a:srgbClr val="61655F"/>
                </a:solidFill>
              </a:rPr>
              <a:t>zinc fingers scored</a:t>
            </a:r>
            <a:endParaRPr lang="en-US" sz="1050" dirty="0"/>
          </a:p>
        </p:txBody>
      </p:sp>
      <p:sp>
        <p:nvSpPr>
          <p:cNvPr id="14" name="card"/>
          <p:cNvSpPr/>
          <p:nvPr/>
        </p:nvSpPr>
        <p:spPr>
          <a:xfrm>
            <a:off x="7726680" y="4572000"/>
            <a:ext cx="3931920" cy="1207008"/>
          </a:xfrm>
          <a:prstGeom prst="roundRect">
            <a:avLst>
              <a:gd name="adj" fmla="val 3030"/>
            </a:avLst>
          </a:prstGeom>
          <a:solidFill>
            <a:srgbClr val="F6E3D3"/>
          </a:solidFill>
          <a:ln w="12700">
            <a:solidFill>
              <a:srgbClr val="F6E3D3"/>
            </a:solidFill>
            <a:prstDash val="solid"/>
          </a:ln>
        </p:spPr>
      </p:sp>
      <p:sp>
        <p:nvSpPr>
          <p:cNvPr id="15" name="Text 13"/>
          <p:cNvSpPr txBox="1"/>
          <p:nvPr/>
        </p:nvSpPr>
        <p:spPr>
          <a:xfrm>
            <a:off x="7964424" y="4736592"/>
            <a:ext cx="345643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WHERE IT MISSES</a:t>
            </a:r>
            <a:endParaRPr lang="en-US" sz="1100" dirty="0"/>
          </a:p>
        </p:txBody>
      </p:sp>
      <p:sp>
        <p:nvSpPr>
          <p:cNvPr id="16" name="Text 14"/>
          <p:cNvSpPr txBox="1"/>
          <p:nvPr/>
        </p:nvSpPr>
        <p:spPr>
          <a:xfrm>
            <a:off x="7964424" y="5047488"/>
            <a:ext cx="3456432" cy="548640"/>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Sensitivity 0.6562 against a 0.70 floor, specificity 0.3528 against 0.60. Both miss, both are diagnosed in FINDINGS.md.</a:t>
            </a:r>
            <a:endParaRPr lang="en-US" sz="1250" dirty="0"/>
          </a:p>
        </p:txBody>
      </p:sp>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hip-C"/>
          <p:cNvSpPr/>
          <p:nvPr/>
        </p:nvSpPr>
        <p:spPr>
          <a:xfrm>
            <a:off x="502920" y="493776"/>
            <a:ext cx="475488" cy="475488"/>
          </a:xfrm>
          <a:prstGeom prst="roundRect">
            <a:avLst>
              <a:gd name="adj" fmla="val 19231"/>
            </a:avLst>
          </a:prstGeom>
          <a:solidFill>
            <a:srgbClr val="1C244B"/>
          </a:solidFill>
          <a:ln w="12700">
            <a:solidFill>
              <a:srgbClr val="1C244B"/>
            </a:solidFill>
            <a:prstDash val="solid"/>
          </a:ln>
        </p:spPr>
      </p:sp>
      <p:sp>
        <p:nvSpPr>
          <p:cNvPr id="3" name="Text 1"/>
          <p:cNvSpPr txBox="1"/>
          <p:nvPr/>
        </p:nvSpPr>
        <p:spPr>
          <a:xfrm>
            <a:off x="502920" y="4937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C</a:t>
            </a:r>
            <a:endParaRPr lang="en-US" sz="1800" dirty="0"/>
          </a:p>
        </p:txBody>
      </p:sp>
      <p:sp>
        <p:nvSpPr>
          <p:cNvPr id="4" name="Text 2"/>
          <p:cNvSpPr txBox="1"/>
          <p:nvPr/>
        </p:nvSpPr>
        <p:spPr>
          <a:xfrm>
            <a:off x="1161288" y="457200"/>
            <a:ext cx="10497312"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E3 Triage</a:t>
            </a:r>
            <a:endParaRPr lang="en-US" sz="3200" dirty="0"/>
          </a:p>
        </p:txBody>
      </p:sp>
      <p:sp>
        <p:nvSpPr>
          <p:cNvPr id="5" name="Text 3"/>
          <p:cNvSpPr txBox="1"/>
          <p:nvPr/>
        </p:nvSpPr>
        <p:spPr>
          <a:xfrm>
            <a:off x="502920" y="1133856"/>
            <a:ext cx="11155680" cy="384048"/>
          </a:xfrm>
          <a:prstGeom prst="rect">
            <a:avLst/>
          </a:prstGeom>
          <a:noFill/>
          <a:ln/>
        </p:spPr>
        <p:txBody>
          <a:bodyPr wrap="square" lIns="0" tIns="0" rIns="0" bIns="0" rtlCol="0" anchor="ctr"/>
          <a:lstStyle/>
          <a:p>
            <a:pPr indent="0" marL="0">
              <a:buNone/>
            </a:pPr>
            <a:r>
              <a:rPr lang="en-US" sz="1450" i="1" dirty="0">
                <a:solidFill>
                  <a:srgbClr val="A64708"/>
                </a:solidFill>
              </a:rPr>
              <a:t>There are about 650 human E3 ligases and the field uses four.</a:t>
            </a:r>
            <a:endParaRPr lang="en-US" sz="1450" dirty="0"/>
          </a:p>
        </p:txBody>
      </p:sp>
      <p:sp>
        <p:nvSpPr>
          <p:cNvPr id="6" name="Text 4"/>
          <p:cNvSpPr txBox="1"/>
          <p:nvPr/>
        </p:nvSpPr>
        <p:spPr>
          <a:xfrm>
            <a:off x="502920" y="1609344"/>
            <a:ext cx="6858000" cy="2377440"/>
          </a:xfrm>
          <a:prstGeom prst="rect">
            <a:avLst/>
          </a:prstGeom>
          <a:noFill/>
          <a:ln/>
        </p:spPr>
        <p:txBody>
          <a:bodyPr wrap="square" lIns="0" tIns="0" rIns="0" bIns="0" rtlCol="0" anchor="t"/>
          <a:lstStyle/>
          <a:p>
            <a:pPr indent="0" marL="0">
              <a:lnSpc>
                <a:spcPct val="118000"/>
              </a:lnSpc>
              <a:buNone/>
            </a:pPr>
            <a:r>
              <a:rPr lang="en-US" sz="1350" b="1" dirty="0">
                <a:solidFill>
                  <a:schemeClr val="tx1"/>
                </a:solidFill>
              </a:rPr>
              <a:t>The science.</a:t>
            </a:r>
            <a:pPr indent="0" marL="0">
              <a:lnSpc>
                <a:spcPct val="118000"/>
              </a:lnSpc>
              <a:buNone/>
            </a:pPr>
            <a:r>
              <a:rPr lang="en-US" sz="1350" dirty="0">
                <a:solidFill>
                  <a:schemeClr val="tx1"/>
                </a:solidFill>
              </a:rPr>
              <a:t> Cereblon and VHL dominate because they were ligandable first, not because they are the best. The question a new company has to answer early is which of the other 646 are worth a ligand campaign.</a:t>
            </a:r>
            <a:endParaRPr lang="en-US" sz="1350" dirty="0"/>
          </a:p>
          <a:p>
            <a:pPr algn="r" indent="0" marL="0">
              <a:lnSpc>
                <a:spcPct val="118000"/>
              </a:lnSpc>
              <a:buNone/>
            </a:pPr>
            <a:endParaRPr lang="en-US" sz="1350" dirty="0"/>
          </a:p>
          <a:p>
            <a:pPr algn="r" indent="0" marL="0">
              <a:lnSpc>
                <a:spcPct val="118000"/>
              </a:lnSpc>
              <a:buNone/>
            </a:pPr>
            <a:endParaRPr lang="en-US" sz="1350" dirty="0"/>
          </a:p>
          <a:p>
            <a:pPr indent="0" marL="0">
              <a:lnSpc>
                <a:spcPct val="118000"/>
              </a:lnSpc>
              <a:buNone/>
            </a:pPr>
            <a:r>
              <a:rPr lang="en-US" sz="1350" b="1" dirty="0">
                <a:solidFill>
                  <a:schemeClr val="tx1"/>
                </a:solidFill>
              </a:rPr>
              <a:t>How the code answers it.</a:t>
            </a:r>
            <a:pPr indent="0" marL="0">
              <a:lnSpc>
                <a:spcPct val="118000"/>
              </a:lnSpc>
              <a:buNone/>
            </a:pPr>
            <a:r>
              <a:rPr lang="en-US" sz="1350" dirty="0">
                <a:solidFill>
                  <a:schemeClr val="tx1"/>
                </a:solidFill>
              </a:rPr>
              <a:t> fpocket runs over every human E3 structure and scores the best pocket for druggability and volume. That is combined with how well the ligase is structurally covered, how selectively it is expressed across tissues, and its family, into a single rank with every component visible.</a:t>
            </a:r>
            <a:endParaRPr lang="en-US" sz="1350" dirty="0"/>
          </a:p>
        </p:txBody>
      </p:sp>
      <p:sp>
        <p:nvSpPr>
          <p:cNvPr id="7" name="card"/>
          <p:cNvSpPr/>
          <p:nvPr/>
        </p:nvSpPr>
        <p:spPr>
          <a:xfrm>
            <a:off x="502920" y="4114800"/>
            <a:ext cx="6858000" cy="1664208"/>
          </a:xfrm>
          <a:prstGeom prst="roundRect">
            <a:avLst>
              <a:gd name="adj" fmla="val 2198"/>
            </a:avLst>
          </a:prstGeom>
          <a:solidFill>
            <a:srgbClr val="E9EAE5"/>
          </a:solidFill>
          <a:ln w="12700">
            <a:solidFill>
              <a:srgbClr val="E9EAE5"/>
            </a:solidFill>
            <a:prstDash val="solid"/>
          </a:ln>
        </p:spPr>
      </p:sp>
      <p:sp>
        <p:nvSpPr>
          <p:cNvPr id="8" name="Text 6"/>
          <p:cNvSpPr txBox="1"/>
          <p:nvPr/>
        </p:nvSpPr>
        <p:spPr>
          <a:xfrm>
            <a:off x="740664" y="4279392"/>
            <a:ext cx="638251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THE FIVE EXPLOITATION CLASSES</a:t>
            </a:r>
            <a:endParaRPr lang="en-US" sz="1100" dirty="0"/>
          </a:p>
        </p:txBody>
      </p:sp>
      <p:sp>
        <p:nvSpPr>
          <p:cNvPr id="9" name="Text 7"/>
          <p:cNvSpPr txBox="1"/>
          <p:nvPr/>
        </p:nvSpPr>
        <p:spPr>
          <a:xfrm>
            <a:off x="740664" y="4590288"/>
            <a:ext cx="6382512" cy="1005840"/>
          </a:xfrm>
          <a:prstGeom prst="rect">
            <a:avLst/>
          </a:prstGeom>
          <a:noFill/>
          <a:ln/>
        </p:spPr>
        <p:txBody>
          <a:bodyPr wrap="square" lIns="0" tIns="0" rIns="0" bIns="0" rtlCol="0" anchor="t"/>
          <a:lstStyle/>
          <a:p>
            <a:pPr indent="0" marL="0">
              <a:spcAft>
                <a:spcPts val="500"/>
              </a:spcAft>
              <a:buNone/>
            </a:pPr>
            <a:r>
              <a:rPr lang="en-US" sz="1250" b="1" dirty="0">
                <a:solidFill>
                  <a:schemeClr val="tx1"/>
                </a:solidFill>
              </a:rPr>
              <a:t>clinically validated · chemically validated · covalent handle only · ligandable unproven · orphan</a:t>
            </a:r>
            <a:endParaRPr lang="en-US" sz="1250" dirty="0"/>
          </a:p>
          <a:p>
            <a:pPr indent="0" marL="0">
              <a:spcAft>
                <a:spcPts val="500"/>
              </a:spcAft>
              <a:buNone/>
            </a:pPr>
            <a:r>
              <a:rPr lang="en-US" sz="1250" dirty="0">
                <a:solidFill>
                  <a:schemeClr val="tx1"/>
                </a:solidFill>
              </a:rPr>
              <a:t>The classification is derived from published ligand evidence, not assigned by opinion, and it is what the ranking is sorted within.</a:t>
            </a:r>
            <a:endParaRPr lang="en-US" sz="1250" dirty="0"/>
          </a:p>
        </p:txBody>
      </p:sp>
      <p:sp>
        <p:nvSpPr>
          <p:cNvPr id="10" name="card"/>
          <p:cNvSpPr/>
          <p:nvPr/>
        </p:nvSpPr>
        <p:spPr>
          <a:xfrm>
            <a:off x="7726680" y="1609344"/>
            <a:ext cx="3931920" cy="1389888"/>
          </a:xfrm>
          <a:prstGeom prst="roundRect">
            <a:avLst>
              <a:gd name="adj" fmla="val 2632"/>
            </a:avLst>
          </a:prstGeom>
          <a:solidFill>
            <a:srgbClr val="E9EAE5"/>
          </a:solidFill>
          <a:ln w="12700">
            <a:solidFill>
              <a:srgbClr val="E9EAE5"/>
            </a:solidFill>
            <a:prstDash val="solid"/>
          </a:ln>
        </p:spPr>
      </p:sp>
      <p:sp>
        <p:nvSpPr>
          <p:cNvPr id="11" name="Text 9"/>
          <p:cNvSpPr txBox="1"/>
          <p:nvPr/>
        </p:nvSpPr>
        <p:spPr>
          <a:xfrm>
            <a:off x="7964424" y="1773936"/>
            <a:ext cx="345643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SOFTWARE</a:t>
            </a:r>
            <a:endParaRPr lang="en-US" sz="1100" dirty="0"/>
          </a:p>
        </p:txBody>
      </p:sp>
      <p:sp>
        <p:nvSpPr>
          <p:cNvPr id="12" name="Text 10"/>
          <p:cNvSpPr txBox="1"/>
          <p:nvPr/>
        </p:nvSpPr>
        <p:spPr>
          <a:xfrm>
            <a:off x="7964424" y="2084832"/>
            <a:ext cx="3456432" cy="731520"/>
          </a:xfrm>
          <a:prstGeom prst="rect">
            <a:avLst/>
          </a:prstGeom>
          <a:noFill/>
          <a:ln/>
        </p:spPr>
        <p:txBody>
          <a:bodyPr wrap="square" lIns="0" tIns="0" rIns="0" bIns="0" rtlCol="0" anchor="t"/>
          <a:lstStyle/>
          <a:p>
            <a:pPr indent="0" marL="0">
              <a:spcAft>
                <a:spcPts val="500"/>
              </a:spcAft>
              <a:buNone/>
            </a:pPr>
            <a:r>
              <a:rPr lang="en-US" sz="1250" b="1" dirty="0">
                <a:solidFill>
                  <a:schemeClr val="tx1"/>
                </a:solidFill>
              </a:rPr>
              <a:t>fpocket</a:t>
            </a:r>
            <a:endParaRPr lang="en-US" sz="1250" dirty="0"/>
          </a:p>
          <a:p>
            <a:pPr indent="0" marL="0">
              <a:spcAft>
                <a:spcPts val="500"/>
              </a:spcAft>
              <a:buNone/>
            </a:pPr>
            <a:r>
              <a:rPr lang="en-US" sz="1250" dirty="0">
                <a:solidFill>
                  <a:schemeClr val="tx1"/>
                </a:solidFill>
              </a:rPr>
              <a:t>pocket detection and druggability scoring</a:t>
            </a:r>
            <a:endParaRPr lang="en-US" sz="1250" dirty="0"/>
          </a:p>
        </p:txBody>
      </p:sp>
      <p:sp>
        <p:nvSpPr>
          <p:cNvPr id="13" name="Text 11"/>
          <p:cNvSpPr txBox="1"/>
          <p:nvPr/>
        </p:nvSpPr>
        <p:spPr>
          <a:xfrm>
            <a:off x="7726680" y="3200400"/>
            <a:ext cx="2011680" cy="512064"/>
          </a:xfrm>
          <a:prstGeom prst="rect">
            <a:avLst/>
          </a:prstGeom>
          <a:noFill/>
          <a:ln/>
        </p:spPr>
        <p:txBody>
          <a:bodyPr wrap="square" lIns="0" tIns="0" rIns="0" bIns="0" rtlCol="0" anchor="ctr"/>
          <a:lstStyle/>
          <a:p>
            <a:pPr indent="0" marL="0">
              <a:buNone/>
            </a:pPr>
            <a:r>
              <a:rPr lang="en-US" sz="3000" b="1" dirty="0">
                <a:solidFill>
                  <a:srgbClr val="A64708"/>
                </a:solidFill>
                <a:latin typeface="Cambria" pitchFamily="34" charset="0"/>
                <a:ea typeface="Cambria" pitchFamily="34" charset="-122"/>
                <a:cs typeface="Cambria" pitchFamily="34" charset="-120"/>
              </a:rPr>
              <a:t>650</a:t>
            </a:r>
            <a:endParaRPr lang="en-US" sz="3000" dirty="0"/>
          </a:p>
        </p:txBody>
      </p:sp>
      <p:sp>
        <p:nvSpPr>
          <p:cNvPr id="14" name="Text 12"/>
          <p:cNvSpPr txBox="1"/>
          <p:nvPr/>
        </p:nvSpPr>
        <p:spPr>
          <a:xfrm>
            <a:off x="7726680" y="3694176"/>
            <a:ext cx="2011680" cy="457200"/>
          </a:xfrm>
          <a:prstGeom prst="rect">
            <a:avLst/>
          </a:prstGeom>
          <a:noFill/>
          <a:ln/>
        </p:spPr>
        <p:txBody>
          <a:bodyPr wrap="square" lIns="0" tIns="0" rIns="0" bIns="0" rtlCol="0" anchor="t"/>
          <a:lstStyle/>
          <a:p>
            <a:pPr indent="0" marL="0">
              <a:buNone/>
            </a:pPr>
            <a:r>
              <a:rPr lang="en-US" sz="1050" dirty="0">
                <a:solidFill>
                  <a:srgbClr val="61655F"/>
                </a:solidFill>
              </a:rPr>
              <a:t>ligases ranked</a:t>
            </a:r>
            <a:endParaRPr lang="en-US" sz="1050" dirty="0"/>
          </a:p>
        </p:txBody>
      </p:sp>
      <p:sp>
        <p:nvSpPr>
          <p:cNvPr id="15" name="Text 13"/>
          <p:cNvSpPr txBox="1"/>
          <p:nvPr/>
        </p:nvSpPr>
        <p:spPr>
          <a:xfrm>
            <a:off x="10012680" y="3200400"/>
            <a:ext cx="1673352" cy="512064"/>
          </a:xfrm>
          <a:prstGeom prst="rect">
            <a:avLst/>
          </a:prstGeom>
          <a:noFill/>
          <a:ln/>
        </p:spPr>
        <p:txBody>
          <a:bodyPr wrap="square" lIns="0" tIns="0" rIns="0" bIns="0" rtlCol="0" anchor="ctr"/>
          <a:lstStyle/>
          <a:p>
            <a:pPr indent="0" marL="0">
              <a:buNone/>
            </a:pPr>
            <a:r>
              <a:rPr lang="en-US" sz="3000" b="1" dirty="0">
                <a:solidFill>
                  <a:srgbClr val="A64708"/>
                </a:solidFill>
                <a:latin typeface="Cambria" pitchFamily="34" charset="0"/>
                <a:ea typeface="Cambria" pitchFamily="34" charset="-122"/>
                <a:cs typeface="Cambria" pitchFamily="34" charset="-120"/>
              </a:rPr>
              <a:t>638</a:t>
            </a:r>
            <a:endParaRPr lang="en-US" sz="3000" dirty="0"/>
          </a:p>
        </p:txBody>
      </p:sp>
      <p:sp>
        <p:nvSpPr>
          <p:cNvPr id="16" name="Text 14"/>
          <p:cNvSpPr txBox="1"/>
          <p:nvPr/>
        </p:nvSpPr>
        <p:spPr>
          <a:xfrm>
            <a:off x="10012680" y="3694176"/>
            <a:ext cx="1673352" cy="457200"/>
          </a:xfrm>
          <a:prstGeom prst="rect">
            <a:avLst/>
          </a:prstGeom>
          <a:noFill/>
          <a:ln/>
        </p:spPr>
        <p:txBody>
          <a:bodyPr wrap="square" lIns="0" tIns="0" rIns="0" bIns="0" rtlCol="0" anchor="t"/>
          <a:lstStyle/>
          <a:p>
            <a:pPr indent="0" marL="0">
              <a:buNone/>
            </a:pPr>
            <a:r>
              <a:rPr lang="en-US" sz="1050" dirty="0">
                <a:solidFill>
                  <a:srgbClr val="61655F"/>
                </a:solidFill>
              </a:rPr>
              <a:t>with a pocket score</a:t>
            </a:r>
            <a:endParaRPr lang="en-US" sz="1050" dirty="0"/>
          </a:p>
        </p:txBody>
      </p:sp>
      <p:sp>
        <p:nvSpPr>
          <p:cNvPr id="17" name="card"/>
          <p:cNvSpPr/>
          <p:nvPr/>
        </p:nvSpPr>
        <p:spPr>
          <a:xfrm>
            <a:off x="7726680" y="4206240"/>
            <a:ext cx="3931920" cy="1572768"/>
          </a:xfrm>
          <a:prstGeom prst="roundRect">
            <a:avLst>
              <a:gd name="adj" fmla="val 2326"/>
            </a:avLst>
          </a:prstGeom>
          <a:solidFill>
            <a:srgbClr val="E9EAE5"/>
          </a:solidFill>
          <a:ln w="12700">
            <a:solidFill>
              <a:srgbClr val="E9EAE5"/>
            </a:solidFill>
            <a:prstDash val="solid"/>
          </a:ln>
        </p:spPr>
      </p:sp>
      <p:sp>
        <p:nvSpPr>
          <p:cNvPr id="18" name="Text 16"/>
          <p:cNvSpPr txBox="1"/>
          <p:nvPr/>
        </p:nvSpPr>
        <p:spPr>
          <a:xfrm>
            <a:off x="7964424" y="4370832"/>
            <a:ext cx="345643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TOP OF THE RANKING</a:t>
            </a:r>
            <a:endParaRPr lang="en-US" sz="1100" dirty="0"/>
          </a:p>
        </p:txBody>
      </p:sp>
      <p:sp>
        <p:nvSpPr>
          <p:cNvPr id="19" name="Text 17"/>
          <p:cNvSpPr txBox="1"/>
          <p:nvPr/>
        </p:nvSpPr>
        <p:spPr>
          <a:xfrm>
            <a:off x="7964424" y="4681728"/>
            <a:ext cx="3456432" cy="914400"/>
          </a:xfrm>
          <a:prstGeom prst="rect">
            <a:avLst/>
          </a:prstGeom>
          <a:noFill/>
          <a:ln/>
        </p:spPr>
        <p:txBody>
          <a:bodyPr wrap="square" lIns="0" tIns="0" rIns="0" bIns="0" rtlCol="0" anchor="t"/>
          <a:lstStyle/>
          <a:p>
            <a:pPr indent="0" marL="0">
              <a:spcAft>
                <a:spcPts val="500"/>
              </a:spcAft>
              <a:buNone/>
            </a:pPr>
            <a:r>
              <a:rPr lang="en-US" sz="1250" b="1" dirty="0">
                <a:solidFill>
                  <a:schemeClr val="tx1"/>
                </a:solidFill>
              </a:rPr>
              <a:t>DCAF15 · rank 1</a:t>
            </a:r>
            <a:endParaRPr lang="en-US" sz="1250" dirty="0"/>
          </a:p>
          <a:p>
            <a:pPr indent="0" marL="0">
              <a:spcAft>
                <a:spcPts val="500"/>
              </a:spcAft>
              <a:buNone/>
            </a:pPr>
            <a:r>
              <a:rPr lang="en-US" sz="1250" dirty="0">
                <a:solidFill>
                  <a:schemeClr val="tx1"/>
                </a:solidFill>
              </a:rPr>
              <a:t>pocket score 0.988, chemically validated</a:t>
            </a:r>
            <a:endParaRPr lang="en-US" sz="1250" dirty="0"/>
          </a:p>
          <a:p>
            <a:pPr indent="0" marL="0">
              <a:spcAft>
                <a:spcPts val="500"/>
              </a:spcAft>
              <a:buNone/>
            </a:pPr>
            <a:r>
              <a:rPr lang="en-US" sz="1250" b="1" dirty="0">
                <a:solidFill>
                  <a:schemeClr val="tx1"/>
                </a:solidFill>
              </a:rPr>
              <a:t>DCAF8L1 · rank 2</a:t>
            </a:r>
            <a:endParaRPr lang="en-US" sz="1250" dirty="0"/>
          </a:p>
          <a:p>
            <a:pPr indent="0" marL="0">
              <a:spcAft>
                <a:spcPts val="500"/>
              </a:spcAft>
              <a:buNone/>
            </a:pPr>
            <a:r>
              <a:rPr lang="en-US" sz="1250" dirty="0">
                <a:solidFill>
                  <a:schemeClr val="tx1"/>
                </a:solidFill>
              </a:rPr>
              <a:t>pocket score 0.860, ligandable unproven</a:t>
            </a:r>
            <a:endParaRPr lang="en-US" sz="1250" dirty="0"/>
          </a:p>
        </p:txBody>
      </p:sp>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hip-D"/>
          <p:cNvSpPr/>
          <p:nvPr/>
        </p:nvSpPr>
        <p:spPr>
          <a:xfrm>
            <a:off x="502920" y="493776"/>
            <a:ext cx="475488" cy="475488"/>
          </a:xfrm>
          <a:prstGeom prst="roundRect">
            <a:avLst>
              <a:gd name="adj" fmla="val 19231"/>
            </a:avLst>
          </a:prstGeom>
          <a:solidFill>
            <a:srgbClr val="1C244B"/>
          </a:solidFill>
          <a:ln w="12700">
            <a:solidFill>
              <a:srgbClr val="1C244B"/>
            </a:solidFill>
            <a:prstDash val="solid"/>
          </a:ln>
        </p:spPr>
      </p:sp>
      <p:sp>
        <p:nvSpPr>
          <p:cNvPr id="3" name="Text 1"/>
          <p:cNvSpPr txBox="1"/>
          <p:nvPr/>
        </p:nvSpPr>
        <p:spPr>
          <a:xfrm>
            <a:off x="502920" y="4937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D</a:t>
            </a:r>
            <a:endParaRPr lang="en-US" sz="1800" dirty="0"/>
          </a:p>
        </p:txBody>
      </p:sp>
      <p:sp>
        <p:nvSpPr>
          <p:cNvPr id="4" name="Text 2"/>
          <p:cNvSpPr txBox="1"/>
          <p:nvPr/>
        </p:nvSpPr>
        <p:spPr>
          <a:xfrm>
            <a:off x="1161288" y="457200"/>
            <a:ext cx="10497312"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Degradability</a:t>
            </a:r>
            <a:endParaRPr lang="en-US" sz="3200" dirty="0"/>
          </a:p>
        </p:txBody>
      </p:sp>
      <p:sp>
        <p:nvSpPr>
          <p:cNvPr id="5" name="Text 3"/>
          <p:cNvSpPr txBox="1"/>
          <p:nvPr/>
        </p:nvSpPr>
        <p:spPr>
          <a:xfrm>
            <a:off x="502920" y="1133856"/>
            <a:ext cx="11155680" cy="384048"/>
          </a:xfrm>
          <a:prstGeom prst="rect">
            <a:avLst/>
          </a:prstGeom>
          <a:noFill/>
          <a:ln/>
        </p:spPr>
        <p:txBody>
          <a:bodyPr wrap="square" lIns="0" tIns="0" rIns="0" bIns="0" rtlCol="0" anchor="ctr"/>
          <a:lstStyle/>
          <a:p>
            <a:pPr indent="0" marL="0">
              <a:buNone/>
            </a:pPr>
            <a:r>
              <a:rPr lang="en-US" sz="1450" i="1" dirty="0">
                <a:solidFill>
                  <a:srgbClr val="A64708"/>
                </a:solidFill>
              </a:rPr>
              <a:t>A ternary complex is not degradation. The E2 still has to reach a lysine.</a:t>
            </a:r>
            <a:endParaRPr lang="en-US" sz="1450" dirty="0"/>
          </a:p>
        </p:txBody>
      </p:sp>
      <p:sp>
        <p:nvSpPr>
          <p:cNvPr id="6" name="Text 4"/>
          <p:cNvSpPr txBox="1"/>
          <p:nvPr/>
        </p:nvSpPr>
        <p:spPr>
          <a:xfrm>
            <a:off x="502920" y="1609344"/>
            <a:ext cx="6858000" cy="2468880"/>
          </a:xfrm>
          <a:prstGeom prst="rect">
            <a:avLst/>
          </a:prstGeom>
          <a:noFill/>
          <a:ln/>
        </p:spPr>
        <p:txBody>
          <a:bodyPr wrap="square" lIns="0" tIns="0" rIns="0" bIns="0" rtlCol="0" anchor="t"/>
          <a:lstStyle/>
          <a:p>
            <a:pPr indent="0" marL="0">
              <a:lnSpc>
                <a:spcPct val="118000"/>
              </a:lnSpc>
              <a:buNone/>
            </a:pPr>
            <a:r>
              <a:rPr lang="en-US" sz="1350" b="1" dirty="0">
                <a:solidFill>
                  <a:schemeClr val="tx1"/>
                </a:solidFill>
              </a:rPr>
              <a:t>The science.</a:t>
            </a:r>
            <a:pPr indent="0" marL="0">
              <a:lnSpc>
                <a:spcPct val="118000"/>
              </a:lnSpc>
              <a:buNone/>
            </a:pPr>
            <a:r>
              <a:rPr lang="en-US" sz="1350" dirty="0">
                <a:solidFill>
                  <a:schemeClr val="tx1"/>
                </a:solidFill>
              </a:rPr>
              <a:t> Once the glue has brought ligase and target together, ubiquitin has to be transferred onto a lysine on the target. Whether a usable lysine exists, and whether it sits within reach of the E2, is the last thing that can kill a programme and the first thing nobody checks.</a:t>
            </a:r>
            <a:endParaRPr lang="en-US" sz="1350" dirty="0"/>
          </a:p>
          <a:p>
            <a:pPr algn="r" indent="0" marL="0">
              <a:lnSpc>
                <a:spcPct val="118000"/>
              </a:lnSpc>
              <a:buNone/>
            </a:pPr>
            <a:endParaRPr lang="en-US" sz="1350" dirty="0"/>
          </a:p>
          <a:p>
            <a:pPr algn="r" indent="0" marL="0">
              <a:lnSpc>
                <a:spcPct val="118000"/>
              </a:lnSpc>
              <a:buNone/>
            </a:pPr>
            <a:endParaRPr lang="en-US" sz="1350" dirty="0"/>
          </a:p>
          <a:p>
            <a:pPr indent="0" marL="0">
              <a:lnSpc>
                <a:spcPct val="118000"/>
              </a:lnSpc>
              <a:buNone/>
            </a:pPr>
            <a:r>
              <a:rPr lang="en-US" sz="1350" b="1" dirty="0">
                <a:solidFill>
                  <a:schemeClr val="tx1"/>
                </a:solidFill>
              </a:rPr>
              <a:t>How the code answers it.</a:t>
            </a:r>
            <a:pPr indent="0" marL="0">
              <a:lnSpc>
                <a:spcPct val="118000"/>
              </a:lnSpc>
              <a:buNone/>
            </a:pPr>
            <a:r>
              <a:rPr lang="en-US" sz="1350" dirty="0">
                <a:solidFill>
                  <a:schemeClr val="tx1"/>
                </a:solidFill>
              </a:rPr>
              <a:t> Surface lysines are scored on NZ relative accessibility and on Cβ–Cβ distance from the chosen binding site, against a reach window fitted on 43 real induced ternary complexes rather than on an assumption.</a:t>
            </a:r>
            <a:endParaRPr lang="en-US" sz="1350" dirty="0"/>
          </a:p>
        </p:txBody>
      </p:sp>
      <p:sp>
        <p:nvSpPr>
          <p:cNvPr id="7" name="card"/>
          <p:cNvSpPr/>
          <p:nvPr/>
        </p:nvSpPr>
        <p:spPr>
          <a:xfrm>
            <a:off x="502920" y="4224528"/>
            <a:ext cx="6858000" cy="1554480"/>
          </a:xfrm>
          <a:prstGeom prst="roundRect">
            <a:avLst>
              <a:gd name="adj" fmla="val 2353"/>
            </a:avLst>
          </a:prstGeom>
          <a:solidFill>
            <a:srgbClr val="F6E3D3"/>
          </a:solidFill>
          <a:ln w="12700">
            <a:solidFill>
              <a:srgbClr val="F6E3D3"/>
            </a:solidFill>
            <a:prstDash val="solid"/>
          </a:ln>
        </p:spPr>
      </p:sp>
      <p:sp>
        <p:nvSpPr>
          <p:cNvPr id="8" name="Text 6"/>
          <p:cNvSpPr txBox="1"/>
          <p:nvPr/>
        </p:nvSpPr>
        <p:spPr>
          <a:xfrm>
            <a:off x="740664" y="4389120"/>
            <a:ext cx="638251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THE RESULT A GLUE COMPANY MOST NEEDS</a:t>
            </a:r>
            <a:endParaRPr lang="en-US" sz="1100" dirty="0"/>
          </a:p>
        </p:txBody>
      </p:sp>
      <p:sp>
        <p:nvSpPr>
          <p:cNvPr id="9" name="Text 7"/>
          <p:cNvSpPr txBox="1"/>
          <p:nvPr/>
        </p:nvSpPr>
        <p:spPr>
          <a:xfrm>
            <a:off x="740664" y="4700016"/>
            <a:ext cx="6382512" cy="896112"/>
          </a:xfrm>
          <a:prstGeom prst="rect">
            <a:avLst/>
          </a:prstGeom>
          <a:noFill/>
          <a:ln/>
        </p:spPr>
        <p:txBody>
          <a:bodyPr wrap="square" lIns="0" tIns="0" rIns="0" bIns="0" rtlCol="0" anchor="t"/>
          <a:lstStyle/>
          <a:p>
            <a:pPr indent="0" marL="0">
              <a:spcAft>
                <a:spcPts val="500"/>
              </a:spcAft>
              <a:buNone/>
            </a:pPr>
            <a:r>
              <a:rPr lang="en-US" sz="1250" b="1" dirty="0">
                <a:solidFill>
                  <a:schemeClr val="tx1"/>
                </a:solidFill>
              </a:rPr>
              <a:t>Lysine exposure does not predict ubiquitylation.</a:t>
            </a:r>
            <a:endParaRPr lang="en-US" sz="1250" dirty="0"/>
          </a:p>
          <a:p>
            <a:pPr indent="0" marL="0">
              <a:spcAft>
                <a:spcPts val="500"/>
              </a:spcAft>
              <a:buNone/>
            </a:pPr>
            <a:r>
              <a:rPr lang="en-US" sz="1250" dirty="0">
                <a:solidFill>
                  <a:schemeClr val="tx1"/>
                </a:solidFill>
              </a:rPr>
              <a:t>Scored against 309,297 lysines that were assayed and found unmodified — not lysines nobody had annotated — exposure reads 0.502. Chance. Do not build a selection criterion on it.</a:t>
            </a:r>
            <a:endParaRPr lang="en-US" sz="1250" dirty="0"/>
          </a:p>
        </p:txBody>
      </p:sp>
      <p:sp>
        <p:nvSpPr>
          <p:cNvPr id="10" name="card"/>
          <p:cNvSpPr/>
          <p:nvPr/>
        </p:nvSpPr>
        <p:spPr>
          <a:xfrm>
            <a:off x="7726680" y="1609344"/>
            <a:ext cx="3931920" cy="2103120"/>
          </a:xfrm>
          <a:prstGeom prst="roundRect">
            <a:avLst>
              <a:gd name="adj" fmla="val 1739"/>
            </a:avLst>
          </a:prstGeom>
          <a:solidFill>
            <a:srgbClr val="E9EAE5"/>
          </a:solidFill>
          <a:ln w="12700">
            <a:solidFill>
              <a:srgbClr val="E9EAE5"/>
            </a:solidFill>
            <a:prstDash val="solid"/>
          </a:ln>
        </p:spPr>
      </p:sp>
      <p:sp>
        <p:nvSpPr>
          <p:cNvPr id="11" name="Text 9"/>
          <p:cNvSpPr txBox="1"/>
          <p:nvPr/>
        </p:nvSpPr>
        <p:spPr>
          <a:xfrm>
            <a:off x="7964424" y="1773936"/>
            <a:ext cx="345643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WHY IT FAILS, MEASURED</a:t>
            </a:r>
            <a:endParaRPr lang="en-US" sz="1100" dirty="0"/>
          </a:p>
        </p:txBody>
      </p:sp>
      <p:sp>
        <p:nvSpPr>
          <p:cNvPr id="12" name="Text 10"/>
          <p:cNvSpPr txBox="1"/>
          <p:nvPr/>
        </p:nvSpPr>
        <p:spPr>
          <a:xfrm>
            <a:off x="7964424" y="2084832"/>
            <a:ext cx="3456432" cy="1444752"/>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Reach from the ligand site scores 0.42 to 0.48, because the ligand site is where a substrate is recruited and not where ubiquitin is transferred.</a:t>
            </a:r>
            <a:endParaRPr lang="en-US" sz="1250" dirty="0"/>
          </a:p>
          <a:p>
            <a:pPr indent="0" marL="0">
              <a:spcAft>
                <a:spcPts val="500"/>
              </a:spcAft>
              <a:buNone/>
            </a:pPr>
            <a:r>
              <a:rPr lang="en-US" sz="1250" dirty="0">
                <a:solidFill>
                  <a:schemeClr val="tx1"/>
                </a:solidFill>
              </a:rPr>
              <a:t>The two published labellings disagree on 41% of lysines, which is most of the apparent signal in the easier version of this test.</a:t>
            </a:r>
            <a:endParaRPr lang="en-US" sz="1250" dirty="0"/>
          </a:p>
        </p:txBody>
      </p:sp>
      <p:sp>
        <p:nvSpPr>
          <p:cNvPr id="13" name="Text 11"/>
          <p:cNvSpPr txBox="1"/>
          <p:nvPr/>
        </p:nvSpPr>
        <p:spPr>
          <a:xfrm>
            <a:off x="7726680" y="3931920"/>
            <a:ext cx="2377440" cy="512064"/>
          </a:xfrm>
          <a:prstGeom prst="rect">
            <a:avLst/>
          </a:prstGeom>
          <a:noFill/>
          <a:ln/>
        </p:spPr>
        <p:txBody>
          <a:bodyPr wrap="square" lIns="0" tIns="0" rIns="0" bIns="0" rtlCol="0" anchor="ctr"/>
          <a:lstStyle/>
          <a:p>
            <a:pPr indent="0" marL="0">
              <a:buNone/>
            </a:pPr>
            <a:r>
              <a:rPr lang="en-US" sz="3000" b="1" dirty="0">
                <a:solidFill>
                  <a:srgbClr val="A33A2A"/>
                </a:solidFill>
                <a:latin typeface="Cambria" pitchFamily="34" charset="0"/>
                <a:ea typeface="Cambria" pitchFamily="34" charset="-122"/>
                <a:cs typeface="Cambria" pitchFamily="34" charset="-120"/>
              </a:rPr>
              <a:t>0.502</a:t>
            </a:r>
            <a:endParaRPr lang="en-US" sz="3000" dirty="0"/>
          </a:p>
        </p:txBody>
      </p:sp>
      <p:sp>
        <p:nvSpPr>
          <p:cNvPr id="14" name="Text 12"/>
          <p:cNvSpPr txBox="1"/>
          <p:nvPr/>
        </p:nvSpPr>
        <p:spPr>
          <a:xfrm>
            <a:off x="7726680" y="4425696"/>
            <a:ext cx="2377440" cy="457200"/>
          </a:xfrm>
          <a:prstGeom prst="rect">
            <a:avLst/>
          </a:prstGeom>
          <a:noFill/>
          <a:ln/>
        </p:spPr>
        <p:txBody>
          <a:bodyPr wrap="square" lIns="0" tIns="0" rIns="0" bIns="0" rtlCol="0" anchor="t"/>
          <a:lstStyle/>
          <a:p>
            <a:pPr indent="0" marL="0">
              <a:buNone/>
            </a:pPr>
            <a:r>
              <a:rPr lang="en-US" sz="1050" dirty="0">
                <a:solidFill>
                  <a:srgbClr val="61655F"/>
                </a:solidFill>
              </a:rPr>
              <a:t>exposure AUC</a:t>
            </a:r>
            <a:endParaRPr lang="en-US" sz="1050" dirty="0"/>
          </a:p>
          <a:p>
            <a:pPr indent="0" marL="0">
              <a:buNone/>
            </a:pPr>
            <a:r>
              <a:rPr lang="en-US" sz="1050" dirty="0">
                <a:solidFill>
                  <a:srgbClr val="61655F"/>
                </a:solidFill>
              </a:rPr>
              <a:t>against assayed negatives</a:t>
            </a:r>
            <a:endParaRPr lang="en-US" sz="1050" dirty="0"/>
          </a:p>
        </p:txBody>
      </p:sp>
      <p:sp>
        <p:nvSpPr>
          <p:cNvPr id="15" name="Text 13"/>
          <p:cNvSpPr txBox="1"/>
          <p:nvPr/>
        </p:nvSpPr>
        <p:spPr>
          <a:xfrm>
            <a:off x="10149840" y="3931920"/>
            <a:ext cx="1536192" cy="512064"/>
          </a:xfrm>
          <a:prstGeom prst="rect">
            <a:avLst/>
          </a:prstGeom>
          <a:noFill/>
          <a:ln/>
        </p:spPr>
        <p:txBody>
          <a:bodyPr wrap="square" lIns="0" tIns="0" rIns="0" bIns="0" rtlCol="0" anchor="ctr"/>
          <a:lstStyle/>
          <a:p>
            <a:pPr indent="0" marL="0">
              <a:buNone/>
            </a:pPr>
            <a:r>
              <a:rPr lang="en-US" sz="3000" b="1" dirty="0">
                <a:solidFill>
                  <a:srgbClr val="A64708"/>
                </a:solidFill>
                <a:latin typeface="Cambria" pitchFamily="34" charset="0"/>
                <a:ea typeface="Cambria" pitchFamily="34" charset="-122"/>
                <a:cs typeface="Cambria" pitchFamily="34" charset="-120"/>
              </a:rPr>
              <a:t>43</a:t>
            </a:r>
            <a:endParaRPr lang="en-US" sz="3000" dirty="0"/>
          </a:p>
        </p:txBody>
      </p:sp>
      <p:sp>
        <p:nvSpPr>
          <p:cNvPr id="16" name="Text 14"/>
          <p:cNvSpPr txBox="1"/>
          <p:nvPr/>
        </p:nvSpPr>
        <p:spPr>
          <a:xfrm>
            <a:off x="10149840" y="4425696"/>
            <a:ext cx="1536192" cy="457200"/>
          </a:xfrm>
          <a:prstGeom prst="rect">
            <a:avLst/>
          </a:prstGeom>
          <a:noFill/>
          <a:ln/>
        </p:spPr>
        <p:txBody>
          <a:bodyPr wrap="square" lIns="0" tIns="0" rIns="0" bIns="0" rtlCol="0" anchor="t"/>
          <a:lstStyle/>
          <a:p>
            <a:pPr indent="0" marL="0">
              <a:buNone/>
            </a:pPr>
            <a:r>
              <a:rPr lang="en-US" sz="1050" dirty="0">
                <a:solidFill>
                  <a:srgbClr val="61655F"/>
                </a:solidFill>
              </a:rPr>
              <a:t>ternary complexes</a:t>
            </a:r>
            <a:endParaRPr lang="en-US" sz="1050" dirty="0"/>
          </a:p>
          <a:p>
            <a:pPr indent="0" marL="0">
              <a:buNone/>
            </a:pPr>
            <a:r>
              <a:rPr lang="en-US" sz="1050" dirty="0">
                <a:solidFill>
                  <a:srgbClr val="61655F"/>
                </a:solidFill>
              </a:rPr>
              <a:t>in the fit</a:t>
            </a:r>
            <a:endParaRPr lang="en-US" sz="1050" dirty="0"/>
          </a:p>
        </p:txBody>
      </p:sp>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hip-!"/>
          <p:cNvSpPr/>
          <p:nvPr/>
        </p:nvSpPr>
        <p:spPr>
          <a:xfrm>
            <a:off x="502920" y="493776"/>
            <a:ext cx="475488" cy="475488"/>
          </a:xfrm>
          <a:prstGeom prst="roundRect">
            <a:avLst>
              <a:gd name="adj" fmla="val 19231"/>
            </a:avLst>
          </a:prstGeom>
          <a:solidFill>
            <a:srgbClr val="A33A2A"/>
          </a:solidFill>
          <a:ln w="12700">
            <a:solidFill>
              <a:srgbClr val="A33A2A"/>
            </a:solidFill>
            <a:prstDash val="solid"/>
          </a:ln>
        </p:spPr>
      </p:sp>
      <p:sp>
        <p:nvSpPr>
          <p:cNvPr id="3" name="Text 1"/>
          <p:cNvSpPr txBox="1"/>
          <p:nvPr/>
        </p:nvSpPr>
        <p:spPr>
          <a:xfrm>
            <a:off x="502920" y="4937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4" name="Text 2"/>
          <p:cNvSpPr txBox="1"/>
          <p:nvPr/>
        </p:nvSpPr>
        <p:spPr>
          <a:xfrm>
            <a:off x="1161288" y="457200"/>
            <a:ext cx="10497312"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What did not work</a:t>
            </a:r>
            <a:endParaRPr lang="en-US" sz="3200" dirty="0"/>
          </a:p>
        </p:txBody>
      </p:sp>
      <p:sp>
        <p:nvSpPr>
          <p:cNvPr id="5" name="Text 3"/>
          <p:cNvSpPr txBox="1"/>
          <p:nvPr/>
        </p:nvSpPr>
        <p:spPr>
          <a:xfrm>
            <a:off x="502920" y="1133856"/>
            <a:ext cx="11155680" cy="384048"/>
          </a:xfrm>
          <a:prstGeom prst="rect">
            <a:avLst/>
          </a:prstGeom>
          <a:noFill/>
          <a:ln/>
        </p:spPr>
        <p:txBody>
          <a:bodyPr wrap="square" lIns="0" tIns="0" rIns="0" bIns="0" rtlCol="0" anchor="ctr"/>
          <a:lstStyle/>
          <a:p>
            <a:pPr indent="0" marL="0">
              <a:buNone/>
            </a:pPr>
            <a:r>
              <a:rPr lang="en-US" sz="1450" i="1" dirty="0">
                <a:solidFill>
                  <a:srgbClr val="A64708"/>
                </a:solidFill>
              </a:rPr>
              <a:t>Four things the project tried, measured, and could not make work. All four are in the repository.</a:t>
            </a:r>
            <a:endParaRPr lang="en-US" sz="1450" dirty="0"/>
          </a:p>
        </p:txBody>
      </p:sp>
      <p:sp>
        <p:nvSpPr>
          <p:cNvPr id="6" name="fail-0"/>
          <p:cNvSpPr/>
          <p:nvPr/>
        </p:nvSpPr>
        <p:spPr>
          <a:xfrm>
            <a:off x="502920" y="1682496"/>
            <a:ext cx="5394960" cy="1645920"/>
          </a:xfrm>
          <a:prstGeom prst="roundRect">
            <a:avLst>
              <a:gd name="adj" fmla="val 2222"/>
            </a:avLst>
          </a:prstGeom>
          <a:solidFill>
            <a:srgbClr val="E9EAE5"/>
          </a:solidFill>
          <a:ln w="12700">
            <a:solidFill>
              <a:srgbClr val="E9EAE5"/>
            </a:solidFill>
            <a:prstDash val="solid"/>
          </a:ln>
        </p:spPr>
      </p:sp>
      <p:sp>
        <p:nvSpPr>
          <p:cNvPr id="7" name="Text 5"/>
          <p:cNvSpPr txBox="1"/>
          <p:nvPr/>
        </p:nvSpPr>
        <p:spPr>
          <a:xfrm>
            <a:off x="740664" y="1847088"/>
            <a:ext cx="4919472" cy="237744"/>
          </a:xfrm>
          <a:prstGeom prst="rect">
            <a:avLst/>
          </a:prstGeom>
          <a:noFill/>
          <a:ln/>
        </p:spPr>
        <p:txBody>
          <a:bodyPr wrap="square" lIns="0" tIns="0" rIns="0" bIns="0" rtlCol="0" anchor="ctr"/>
          <a:lstStyle/>
          <a:p>
            <a:pPr indent="0" marL="0">
              <a:buNone/>
            </a:pPr>
            <a:r>
              <a:rPr lang="en-US" sz="1100" b="1" spc="140" kern="0" dirty="0">
                <a:solidFill>
                  <a:srgbClr val="A33A2A"/>
                </a:solidFill>
              </a:rPr>
              <a:t>GEOMETRY ALONE DOES NOT PREDICT DEGRADATION</a:t>
            </a:r>
            <a:endParaRPr lang="en-US" sz="1100" dirty="0"/>
          </a:p>
        </p:txBody>
      </p:sp>
      <p:sp>
        <p:nvSpPr>
          <p:cNvPr id="8" name="Text 6"/>
          <p:cNvSpPr txBox="1"/>
          <p:nvPr/>
        </p:nvSpPr>
        <p:spPr>
          <a:xfrm>
            <a:off x="740664" y="2157984"/>
            <a:ext cx="4919472" cy="987552"/>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The specified geometry score is anti-predictive on the assayed set, and a quarter of it was never persisted to the database. Sequence carries the signal. Combining the two adds 0.0014, inside the noise between splits.</a:t>
            </a:r>
            <a:endParaRPr lang="en-US" sz="1250" dirty="0"/>
          </a:p>
        </p:txBody>
      </p:sp>
      <p:sp>
        <p:nvSpPr>
          <p:cNvPr id="9" name="fail-1"/>
          <p:cNvSpPr/>
          <p:nvPr/>
        </p:nvSpPr>
        <p:spPr>
          <a:xfrm>
            <a:off x="6291072" y="1682496"/>
            <a:ext cx="5394960" cy="1645920"/>
          </a:xfrm>
          <a:prstGeom prst="roundRect">
            <a:avLst>
              <a:gd name="adj" fmla="val 2222"/>
            </a:avLst>
          </a:prstGeom>
          <a:solidFill>
            <a:srgbClr val="E9EAE5"/>
          </a:solidFill>
          <a:ln w="12700">
            <a:solidFill>
              <a:srgbClr val="E9EAE5"/>
            </a:solidFill>
            <a:prstDash val="solid"/>
          </a:ln>
        </p:spPr>
      </p:sp>
      <p:sp>
        <p:nvSpPr>
          <p:cNvPr id="10" name="Text 8"/>
          <p:cNvSpPr txBox="1"/>
          <p:nvPr/>
        </p:nvSpPr>
        <p:spPr>
          <a:xfrm>
            <a:off x="6528816" y="1847088"/>
            <a:ext cx="4919472" cy="237744"/>
          </a:xfrm>
          <a:prstGeom prst="rect">
            <a:avLst/>
          </a:prstGeom>
          <a:noFill/>
          <a:ln/>
        </p:spPr>
        <p:txBody>
          <a:bodyPr wrap="square" lIns="0" tIns="0" rIns="0" bIns="0" rtlCol="0" anchor="ctr"/>
          <a:lstStyle/>
          <a:p>
            <a:pPr indent="0" marL="0">
              <a:buNone/>
            </a:pPr>
            <a:r>
              <a:rPr lang="en-US" sz="1100" b="1" spc="140" kern="0" dirty="0">
                <a:solidFill>
                  <a:srgbClr val="A33A2A"/>
                </a:solidFill>
              </a:rPr>
              <a:t>COUNTING APO STRUCTURES CANNOT SEPARATE INDUCED FROM PRE-EXISTING</a:t>
            </a:r>
            <a:endParaRPr lang="en-US" sz="1100" dirty="0"/>
          </a:p>
        </p:txBody>
      </p:sp>
      <p:sp>
        <p:nvSpPr>
          <p:cNvPr id="11" name="Text 9"/>
          <p:cNvSpPr txBox="1"/>
          <p:nvPr/>
        </p:nvSpPr>
        <p:spPr>
          <a:xfrm>
            <a:off x="6528816" y="2157984"/>
            <a:ext cx="4919472" cy="987552"/>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Three framings tried, each defeated by a cofactor: haemoglobin α+β has no ligand-free structure at all, because haem is a ligand, so the most obligate pair in the set looked induced. Recorded as not done rather than approximated.</a:t>
            </a:r>
            <a:endParaRPr lang="en-US" sz="1250" dirty="0"/>
          </a:p>
        </p:txBody>
      </p:sp>
      <p:sp>
        <p:nvSpPr>
          <p:cNvPr id="12" name="fail-2"/>
          <p:cNvSpPr/>
          <p:nvPr/>
        </p:nvSpPr>
        <p:spPr>
          <a:xfrm>
            <a:off x="502920" y="3529584"/>
            <a:ext cx="5394960" cy="1645920"/>
          </a:xfrm>
          <a:prstGeom prst="roundRect">
            <a:avLst>
              <a:gd name="adj" fmla="val 2222"/>
            </a:avLst>
          </a:prstGeom>
          <a:solidFill>
            <a:srgbClr val="E9EAE5"/>
          </a:solidFill>
          <a:ln w="12700">
            <a:solidFill>
              <a:srgbClr val="E9EAE5"/>
            </a:solidFill>
            <a:prstDash val="solid"/>
          </a:ln>
        </p:spPr>
      </p:sp>
      <p:sp>
        <p:nvSpPr>
          <p:cNvPr id="13" name="Text 11"/>
          <p:cNvSpPr txBox="1"/>
          <p:nvPr/>
        </p:nvSpPr>
        <p:spPr>
          <a:xfrm>
            <a:off x="740664" y="3694176"/>
            <a:ext cx="4919472" cy="237744"/>
          </a:xfrm>
          <a:prstGeom prst="rect">
            <a:avLst/>
          </a:prstGeom>
          <a:noFill/>
          <a:ln/>
        </p:spPr>
        <p:txBody>
          <a:bodyPr wrap="square" lIns="0" tIns="0" rIns="0" bIns="0" rtlCol="0" anchor="ctr"/>
          <a:lstStyle/>
          <a:p>
            <a:pPr indent="0" marL="0">
              <a:buNone/>
            </a:pPr>
            <a:r>
              <a:rPr lang="en-US" sz="1100" b="1" spc="140" kern="0" dirty="0">
                <a:solidFill>
                  <a:srgbClr val="A33A2A"/>
                </a:solidFill>
              </a:rPr>
              <a:t>LIGAND SHARE IS A MEASUREMENT, NOT A CLASSIFIER</a:t>
            </a:r>
            <a:endParaRPr lang="en-US" sz="1100" dirty="0"/>
          </a:p>
        </p:txBody>
      </p:sp>
      <p:sp>
        <p:nvSpPr>
          <p:cNvPr id="14" name="Text 12"/>
          <p:cNvSpPr txBox="1"/>
          <p:nvPr/>
        </p:nvSpPr>
        <p:spPr>
          <a:xfrm>
            <a:off x="740664" y="4005072"/>
            <a:ext cx="4919472" cy="987552"/>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A genuine CRBN degrader and a colchicine-site passenger both read 0.47. And on one structure it misleads outright: DNA gyrase read 0.97 on 30 Å² of chain contact, and the same two chains bury 3,284 Å² in another entry.</a:t>
            </a:r>
            <a:endParaRPr lang="en-US" sz="1250" dirty="0"/>
          </a:p>
        </p:txBody>
      </p:sp>
      <p:sp>
        <p:nvSpPr>
          <p:cNvPr id="15" name="fail-3"/>
          <p:cNvSpPr/>
          <p:nvPr/>
        </p:nvSpPr>
        <p:spPr>
          <a:xfrm>
            <a:off x="6291072" y="3529584"/>
            <a:ext cx="5394960" cy="1645920"/>
          </a:xfrm>
          <a:prstGeom prst="roundRect">
            <a:avLst>
              <a:gd name="adj" fmla="val 2222"/>
            </a:avLst>
          </a:prstGeom>
          <a:solidFill>
            <a:srgbClr val="E9EAE5"/>
          </a:solidFill>
          <a:ln w="12700">
            <a:solidFill>
              <a:srgbClr val="E9EAE5"/>
            </a:solidFill>
            <a:prstDash val="solid"/>
          </a:ln>
        </p:spPr>
      </p:sp>
      <p:sp>
        <p:nvSpPr>
          <p:cNvPr id="16" name="Text 14"/>
          <p:cNvSpPr txBox="1"/>
          <p:nvPr/>
        </p:nvSpPr>
        <p:spPr>
          <a:xfrm>
            <a:off x="6528816" y="3694176"/>
            <a:ext cx="4919472" cy="237744"/>
          </a:xfrm>
          <a:prstGeom prst="rect">
            <a:avLst/>
          </a:prstGeom>
          <a:noFill/>
          <a:ln/>
        </p:spPr>
        <p:txBody>
          <a:bodyPr wrap="square" lIns="0" tIns="0" rIns="0" bIns="0" rtlCol="0" anchor="ctr"/>
          <a:lstStyle/>
          <a:p>
            <a:pPr indent="0" marL="0">
              <a:buNone/>
            </a:pPr>
            <a:r>
              <a:rPr lang="en-US" sz="1100" b="1" spc="140" kern="0" dirty="0">
                <a:solidFill>
                  <a:srgbClr val="A33A2A"/>
                </a:solidFill>
              </a:rPr>
              <a:t>ONE VALIDATION METRIC CANNOT PASS</a:t>
            </a:r>
            <a:endParaRPr lang="en-US" sz="1100" dirty="0"/>
          </a:p>
        </p:txBody>
      </p:sp>
      <p:sp>
        <p:nvSpPr>
          <p:cNvPr id="17" name="Text 15"/>
          <p:cNvSpPr txBox="1"/>
          <p:nvPr/>
        </p:nvSpPr>
        <p:spPr>
          <a:xfrm>
            <a:off x="6528816" y="4005072"/>
            <a:ext cx="4919472" cy="987552"/>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Seven of fifteen realistically phrased questions are scored against numeric thresholds the question never states, so the ceiling is 0.533 against a floor of 0.80. The floor was not moved: a floor chosen to be reachable is not a check.</a:t>
            </a:r>
            <a:endParaRPr lang="en-US" sz="1250" dirty="0"/>
          </a:p>
        </p:txBody>
      </p:sp>
      <p:sp>
        <p:nvSpPr>
          <p:cNvPr id="18" name="Text 16"/>
          <p:cNvSpPr txBox="1"/>
          <p:nvPr/>
        </p:nvSpPr>
        <p:spPr>
          <a:xfrm>
            <a:off x="502920" y="5577840"/>
            <a:ext cx="11155680" cy="365760"/>
          </a:xfrm>
          <a:prstGeom prst="rect">
            <a:avLst/>
          </a:prstGeom>
          <a:noFill/>
          <a:ln/>
        </p:spPr>
        <p:txBody>
          <a:bodyPr wrap="square" lIns="0" tIns="0" rIns="0" bIns="0" rtlCol="0" anchor="ctr"/>
          <a:lstStyle/>
          <a:p>
            <a:pPr indent="0" marL="0">
              <a:buNone/>
            </a:pPr>
            <a:r>
              <a:rPr lang="en-US" sz="1150" i="1" dirty="0">
                <a:solidFill>
                  <a:srgbClr val="61655F"/>
                </a:solidFill>
              </a:rPr>
              <a:t>Two training approaches were also abandoned: DPO collapsed the policy twice, and asking the abstain head before the query head refused all twelve of BINMAN’s own worked examples.</a:t>
            </a:r>
            <a:endParaRPr lang="en-US" sz="1150" dirty="0"/>
          </a:p>
        </p:txBody>
      </p:sp>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hip-→"/>
          <p:cNvSpPr/>
          <p:nvPr/>
        </p:nvSpPr>
        <p:spPr>
          <a:xfrm>
            <a:off x="502920" y="493776"/>
            <a:ext cx="475488" cy="475488"/>
          </a:xfrm>
          <a:prstGeom prst="roundRect">
            <a:avLst>
              <a:gd name="adj" fmla="val 19231"/>
            </a:avLst>
          </a:prstGeom>
          <a:solidFill>
            <a:srgbClr val="A64708"/>
          </a:solidFill>
          <a:ln w="12700">
            <a:solidFill>
              <a:srgbClr val="A64708"/>
            </a:solidFill>
            <a:prstDash val="solid"/>
          </a:ln>
        </p:spPr>
      </p:sp>
      <p:sp>
        <p:nvSpPr>
          <p:cNvPr id="3" name="Text 1"/>
          <p:cNvSpPr txBox="1"/>
          <p:nvPr/>
        </p:nvSpPr>
        <p:spPr>
          <a:xfrm>
            <a:off x="502920" y="4937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4" name="Text 2"/>
          <p:cNvSpPr txBox="1"/>
          <p:nvPr/>
        </p:nvSpPr>
        <p:spPr>
          <a:xfrm>
            <a:off x="1161288" y="457200"/>
            <a:ext cx="10497312"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Where this could go</a:t>
            </a:r>
            <a:endParaRPr lang="en-US" sz="3200" dirty="0"/>
          </a:p>
        </p:txBody>
      </p:sp>
      <p:sp>
        <p:nvSpPr>
          <p:cNvPr id="5" name="Text 3"/>
          <p:cNvSpPr txBox="1"/>
          <p:nvPr/>
        </p:nvSpPr>
        <p:spPr>
          <a:xfrm>
            <a:off x="502920" y="1133856"/>
            <a:ext cx="11155680" cy="384048"/>
          </a:xfrm>
          <a:prstGeom prst="rect">
            <a:avLst/>
          </a:prstGeom>
          <a:noFill/>
          <a:ln/>
        </p:spPr>
        <p:txBody>
          <a:bodyPr wrap="square" lIns="0" tIns="0" rIns="0" bIns="0" rtlCol="0" anchor="ctr"/>
          <a:lstStyle/>
          <a:p>
            <a:pPr indent="0" marL="0">
              <a:buNone/>
            </a:pPr>
            <a:r>
              <a:rPr lang="en-US" sz="1450" i="1" dirty="0">
                <a:solidFill>
                  <a:srgbClr val="A64708"/>
                </a:solidFill>
              </a:rPr>
              <a:t>Everything below is already built, measured and public.</a:t>
            </a:r>
            <a:endParaRPr lang="en-US" sz="1450" dirty="0"/>
          </a:p>
        </p:txBody>
      </p:sp>
      <p:sp>
        <p:nvSpPr>
          <p:cNvPr id="6" name="close-0"/>
          <p:cNvSpPr/>
          <p:nvPr/>
        </p:nvSpPr>
        <p:spPr>
          <a:xfrm>
            <a:off x="502920" y="1682496"/>
            <a:ext cx="3520440" cy="2267712"/>
          </a:xfrm>
          <a:prstGeom prst="roundRect">
            <a:avLst>
              <a:gd name="adj" fmla="val 1613"/>
            </a:avLst>
          </a:prstGeom>
          <a:solidFill>
            <a:srgbClr val="E9EAE5"/>
          </a:solidFill>
          <a:ln w="12700">
            <a:solidFill>
              <a:srgbClr val="E9EAE5"/>
            </a:solidFill>
            <a:prstDash val="solid"/>
          </a:ln>
        </p:spPr>
      </p:sp>
      <p:sp>
        <p:nvSpPr>
          <p:cNvPr id="7" name="Text 5"/>
          <p:cNvSpPr txBox="1"/>
          <p:nvPr/>
        </p:nvSpPr>
        <p:spPr>
          <a:xfrm>
            <a:off x="740664" y="1847088"/>
            <a:ext cx="304495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WHAT YOU CAN USE TODAY</a:t>
            </a:r>
            <a:endParaRPr lang="en-US" sz="1100" dirty="0"/>
          </a:p>
        </p:txBody>
      </p:sp>
      <p:sp>
        <p:nvSpPr>
          <p:cNvPr id="8" name="Text 6"/>
          <p:cNvSpPr txBox="1"/>
          <p:nvPr/>
        </p:nvSpPr>
        <p:spPr>
          <a:xfrm>
            <a:off x="740664" y="2157984"/>
            <a:ext cx="3044952" cy="1609344"/>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The whole atlas is one SQLite file that opens in any tool you already have.</a:t>
            </a:r>
            <a:endParaRPr lang="en-US" sz="1250" dirty="0"/>
          </a:p>
          <a:p>
            <a:pPr indent="0" marL="0">
              <a:spcAft>
                <a:spcPts val="500"/>
              </a:spcAft>
              <a:buNone/>
            </a:pPr>
            <a:r>
              <a:rPr lang="en-US" sz="1250" dirty="0">
                <a:solidFill>
                  <a:schemeClr val="tx1"/>
                </a:solidFill>
              </a:rPr>
              <a:t>A live interface at binman.mdeller.com, the code on GitHub, the trained adapter on Hugging Face.</a:t>
            </a:r>
            <a:endParaRPr lang="en-US" sz="1250" dirty="0"/>
          </a:p>
        </p:txBody>
      </p:sp>
      <p:sp>
        <p:nvSpPr>
          <p:cNvPr id="9" name="close-1"/>
          <p:cNvSpPr/>
          <p:nvPr/>
        </p:nvSpPr>
        <p:spPr>
          <a:xfrm>
            <a:off x="4297680" y="1682496"/>
            <a:ext cx="3520440" cy="2267712"/>
          </a:xfrm>
          <a:prstGeom prst="roundRect">
            <a:avLst>
              <a:gd name="adj" fmla="val 1613"/>
            </a:avLst>
          </a:prstGeom>
          <a:solidFill>
            <a:srgbClr val="E9EAE5"/>
          </a:solidFill>
          <a:ln w="12700">
            <a:solidFill>
              <a:srgbClr val="E9EAE5"/>
            </a:solidFill>
            <a:prstDash val="solid"/>
          </a:ln>
        </p:spPr>
      </p:sp>
      <p:sp>
        <p:nvSpPr>
          <p:cNvPr id="10" name="Text 8"/>
          <p:cNvSpPr txBox="1"/>
          <p:nvPr/>
        </p:nvSpPr>
        <p:spPr>
          <a:xfrm>
            <a:off x="4535424" y="1847088"/>
            <a:ext cx="304495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WHERE TO START READING</a:t>
            </a:r>
            <a:endParaRPr lang="en-US" sz="1100" dirty="0"/>
          </a:p>
        </p:txBody>
      </p:sp>
      <p:sp>
        <p:nvSpPr>
          <p:cNvPr id="11" name="Text 9"/>
          <p:cNvSpPr txBox="1"/>
          <p:nvPr/>
        </p:nvSpPr>
        <p:spPr>
          <a:xfrm>
            <a:off x="4535424" y="2157984"/>
            <a:ext cx="3044952" cy="1609344"/>
          </a:xfrm>
          <a:prstGeom prst="rect">
            <a:avLst/>
          </a:prstGeom>
          <a:noFill/>
          <a:ln/>
        </p:spPr>
        <p:txBody>
          <a:bodyPr wrap="square" lIns="0" tIns="0" rIns="0" bIns="0" rtlCol="0" anchor="t"/>
          <a:lstStyle/>
          <a:p>
            <a:pPr indent="0" marL="0">
              <a:spcAft>
                <a:spcPts val="500"/>
              </a:spcAft>
              <a:buNone/>
            </a:pPr>
            <a:r>
              <a:rPr lang="en-US" sz="1250" b="1" dirty="0">
                <a:solidFill>
                  <a:schemeClr val="tx1"/>
                </a:solidFill>
              </a:rPr>
              <a:t>README</a:t>
            </a:r>
            <a:endParaRPr lang="en-US" sz="1250" dirty="0"/>
          </a:p>
          <a:p>
            <a:pPr indent="0" marL="0">
              <a:spcAft>
                <a:spcPts val="500"/>
              </a:spcAft>
              <a:buNone/>
            </a:pPr>
            <a:r>
              <a:rPr lang="en-US" sz="1250" dirty="0">
                <a:solidFill>
                  <a:schemeClr val="tx1"/>
                </a:solidFill>
              </a:rPr>
              <a:t>what it is and what it found.</a:t>
            </a:r>
            <a:endParaRPr lang="en-US" sz="1250" dirty="0"/>
          </a:p>
          <a:p>
            <a:pPr indent="0" marL="0">
              <a:spcAft>
                <a:spcPts val="500"/>
              </a:spcAft>
              <a:buNone/>
            </a:pPr>
            <a:r>
              <a:rPr lang="en-US" sz="1250" b="1" dirty="0">
                <a:solidFill>
                  <a:schemeClr val="tx1"/>
                </a:solidFill>
              </a:rPr>
              <a:t>FINDINGS.md</a:t>
            </a:r>
            <a:endParaRPr lang="en-US" sz="1250" dirty="0"/>
          </a:p>
          <a:p>
            <a:pPr indent="0" marL="0">
              <a:spcAft>
                <a:spcPts val="500"/>
              </a:spcAft>
              <a:buNone/>
            </a:pPr>
            <a:r>
              <a:rPr lang="en-US" sz="1250" dirty="0">
                <a:solidFill>
                  <a:schemeClr val="tx1"/>
                </a:solidFill>
              </a:rPr>
              <a:t>every number with its method and its n, misses included.</a:t>
            </a:r>
            <a:endParaRPr lang="en-US" sz="1250" dirty="0"/>
          </a:p>
          <a:p>
            <a:pPr indent="0" marL="0">
              <a:spcAft>
                <a:spcPts val="500"/>
              </a:spcAft>
              <a:buNone/>
            </a:pPr>
            <a:r>
              <a:rPr lang="en-US" sz="1250" b="1" dirty="0">
                <a:solidFill>
                  <a:schemeClr val="tx1"/>
                </a:solidFill>
              </a:rPr>
              <a:t>DECISIONS.md</a:t>
            </a:r>
            <a:endParaRPr lang="en-US" sz="1250" dirty="0"/>
          </a:p>
          <a:p>
            <a:pPr indent="0" marL="0">
              <a:spcAft>
                <a:spcPts val="500"/>
              </a:spcAft>
              <a:buNone/>
            </a:pPr>
            <a:r>
              <a:rPr lang="en-US" sz="1250" dirty="0">
                <a:solidFill>
                  <a:schemeClr val="tx1"/>
                </a:solidFill>
              </a:rPr>
              <a:t>92 entries, each with how to reverse it.</a:t>
            </a:r>
            <a:endParaRPr lang="en-US" sz="1250" dirty="0"/>
          </a:p>
        </p:txBody>
      </p:sp>
      <p:sp>
        <p:nvSpPr>
          <p:cNvPr id="12" name="close-2"/>
          <p:cNvSpPr/>
          <p:nvPr/>
        </p:nvSpPr>
        <p:spPr>
          <a:xfrm>
            <a:off x="8092440" y="1682496"/>
            <a:ext cx="3520440" cy="2267712"/>
          </a:xfrm>
          <a:prstGeom prst="roundRect">
            <a:avLst>
              <a:gd name="adj" fmla="val 1613"/>
            </a:avLst>
          </a:prstGeom>
          <a:solidFill>
            <a:srgbClr val="E9EAE5"/>
          </a:solidFill>
          <a:ln w="12700">
            <a:solidFill>
              <a:srgbClr val="E9EAE5"/>
            </a:solidFill>
            <a:prstDash val="solid"/>
          </a:ln>
        </p:spPr>
      </p:sp>
      <p:sp>
        <p:nvSpPr>
          <p:cNvPr id="13" name="Text 11"/>
          <p:cNvSpPr txBox="1"/>
          <p:nvPr/>
        </p:nvSpPr>
        <p:spPr>
          <a:xfrm>
            <a:off x="8330184" y="1847088"/>
            <a:ext cx="304495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THE OBVIOUS NEXT MOVES</a:t>
            </a:r>
            <a:endParaRPr lang="en-US" sz="1100" dirty="0"/>
          </a:p>
        </p:txBody>
      </p:sp>
      <p:sp>
        <p:nvSpPr>
          <p:cNvPr id="14" name="Text 12"/>
          <p:cNvSpPr txBox="1"/>
          <p:nvPr/>
        </p:nvSpPr>
        <p:spPr>
          <a:xfrm>
            <a:off x="8330184" y="2157984"/>
            <a:ext cx="3044952" cy="1609344"/>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Pick a series from the 82 and put it in front of a crystallographer.</a:t>
            </a:r>
            <a:endParaRPr lang="en-US" sz="1250" dirty="0"/>
          </a:p>
          <a:p>
            <a:pPr indent="0" marL="0">
              <a:spcAft>
                <a:spcPts val="500"/>
              </a:spcAft>
              <a:buNone/>
            </a:pPr>
            <a:r>
              <a:rPr lang="en-US" sz="1250" dirty="0">
                <a:solidFill>
                  <a:schemeClr val="tx1"/>
                </a:solidFill>
              </a:rPr>
              <a:t>Pair ligases to targets, which the ranking deliberately does not do.</a:t>
            </a:r>
            <a:endParaRPr lang="en-US" sz="1250" dirty="0"/>
          </a:p>
          <a:p>
            <a:pPr indent="0" marL="0">
              <a:spcAft>
                <a:spcPts val="500"/>
              </a:spcAft>
              <a:buNone/>
            </a:pPr>
            <a:r>
              <a:rPr lang="en-US" sz="1250" dirty="0">
                <a:solidFill>
                  <a:schemeClr val="tx1"/>
                </a:solidFill>
              </a:rPr>
              <a:t>Superpose glue-free structures to settle induced versus pre-existing properly.</a:t>
            </a:r>
            <a:endParaRPr lang="en-US" sz="1250" dirty="0"/>
          </a:p>
        </p:txBody>
      </p:sp>
      <p:sp>
        <p:nvSpPr>
          <p:cNvPr id="15" name="card"/>
          <p:cNvSpPr/>
          <p:nvPr/>
        </p:nvSpPr>
        <p:spPr>
          <a:xfrm>
            <a:off x="502920" y="4187952"/>
            <a:ext cx="11155680" cy="1298448"/>
          </a:xfrm>
          <a:prstGeom prst="roundRect">
            <a:avLst>
              <a:gd name="adj" fmla="val 2817"/>
            </a:avLst>
          </a:prstGeom>
          <a:solidFill>
            <a:srgbClr val="E9EAE5"/>
          </a:solidFill>
          <a:ln w="12700">
            <a:solidFill>
              <a:srgbClr val="E9EAE5"/>
            </a:solidFill>
            <a:prstDash val="solid"/>
          </a:ln>
        </p:spPr>
      </p:sp>
      <p:sp>
        <p:nvSpPr>
          <p:cNvPr id="16" name="Text 14"/>
          <p:cNvSpPr txBox="1"/>
          <p:nvPr/>
        </p:nvSpPr>
        <p:spPr>
          <a:xfrm>
            <a:off x="740664" y="4352544"/>
            <a:ext cx="10680192" cy="237744"/>
          </a:xfrm>
          <a:prstGeom prst="rect">
            <a:avLst/>
          </a:prstGeom>
          <a:noFill/>
          <a:ln/>
        </p:spPr>
        <p:txBody>
          <a:bodyPr wrap="square" lIns="0" tIns="0" rIns="0" bIns="0" rtlCol="0" anchor="ctr"/>
          <a:lstStyle/>
          <a:p>
            <a:pPr indent="0" marL="0">
              <a:buNone/>
            </a:pPr>
            <a:r>
              <a:rPr lang="en-US" sz="1100" b="1" spc="140" kern="0" dirty="0">
                <a:solidFill>
                  <a:srgbClr val="A64708"/>
                </a:solidFill>
              </a:rPr>
              <a:t>THE TWO RULES THE WHOLE PROJECT IS BUILT ON</a:t>
            </a:r>
            <a:endParaRPr lang="en-US" sz="1100" dirty="0"/>
          </a:p>
        </p:txBody>
      </p:sp>
      <p:sp>
        <p:nvSpPr>
          <p:cNvPr id="17" name="Text 15"/>
          <p:cNvSpPr txBox="1"/>
          <p:nvPr/>
        </p:nvSpPr>
        <p:spPr>
          <a:xfrm>
            <a:off x="740664" y="4663440"/>
            <a:ext cx="10680192" cy="640080"/>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1 · Every module is validated against independently curated published datasets, never against controls written for this project.</a:t>
            </a:r>
            <a:endParaRPr lang="en-US" sz="1250" dirty="0"/>
          </a:p>
          <a:p>
            <a:pPr indent="0" marL="0">
              <a:spcAft>
                <a:spcPts val="500"/>
              </a:spcAft>
              <a:buNone/>
            </a:pPr>
            <a:r>
              <a:rPr lang="en-US" sz="1250" dirty="0">
                <a:solidFill>
                  <a:schemeClr val="tx1"/>
                </a:solidFill>
              </a:rPr>
              <a:t>2 · The language model never computes, estimates or reports a number. Every figure you have seen was computed deterministically in Python.</a:t>
            </a:r>
            <a:endParaRPr lang="en-US" sz="1250" dirty="0"/>
          </a:p>
        </p:txBody>
      </p:sp>
      <p:sp>
        <p:nvSpPr>
          <p:cNvPr id="18" name="Text 16"/>
          <p:cNvSpPr txBox="1"/>
          <p:nvPr/>
        </p:nvSpPr>
        <p:spPr>
          <a:xfrm>
            <a:off x="502920" y="5669280"/>
            <a:ext cx="10972800" cy="310896"/>
          </a:xfrm>
          <a:prstGeom prst="rect">
            <a:avLst/>
          </a:prstGeom>
          <a:noFill/>
          <a:ln/>
        </p:spPr>
        <p:txBody>
          <a:bodyPr wrap="square" lIns="0" tIns="0" rIns="0" bIns="0" rtlCol="0" anchor="ctr"/>
          <a:lstStyle/>
          <a:p>
            <a:pPr indent="0" marL="0">
              <a:buNone/>
            </a:pPr>
            <a:r>
              <a:rPr lang="en-US" sz="1150" dirty="0">
                <a:solidFill>
                  <a:srgbClr val="61655F"/>
                </a:solidFill>
              </a:rPr>
              <a:t>Marc C. Deller, D.Phil.  ·  marc@marcdeller.com  ·  binman.mdeller.com  ·  github.com/bellcheddar/BINMAN</a:t>
            </a:r>
            <a:endParaRPr lang="en-US" sz="1150" dirty="0"/>
          </a:p>
        </p:txBody>
      </p:sp>
      <p:sp>
        <p:nvSpPr>
          <p:cNvPr id="25" name="Slide Number Placeholder 0"/>
          <p:cNvSpPr>
            <a:spLocks noGrp="1"/>
          </p:cNvSpPr>
          <p:nvPr>
            <p:ph type="sldNum" sz="quarter" idx="4294967295"/>
          </p:nvPr>
        </p:nvSpPr>
        <p:spPr>
          <a:xfrm>
            <a:off x="11384280" y="6437376"/>
            <a:ext cx="27432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1655F"/>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Depot">
  <a:themeElements>
    <a:clrScheme name="Depot">
      <a:dk1>
        <a:srgbClr val="15171A"/>
      </a:dk1>
      <a:lt1>
        <a:srgbClr val="FFFFFF"/>
      </a:lt1>
      <a:dk2>
        <a:srgbClr val="61655F"/>
      </a:dk2>
      <a:lt2>
        <a:srgbClr val="E9EAE5"/>
      </a:lt2>
      <a:accent1>
        <a:srgbClr val="A64708"/>
      </a:accent1>
      <a:accent2>
        <a:srgbClr val="2C6D60"/>
      </a:accent2>
      <a:accent3>
        <a:srgbClr val="1C244B"/>
      </a:accent3>
      <a:accent4>
        <a:srgbClr val="A33A2A"/>
      </a:accent4>
      <a:accent5>
        <a:srgbClr val="79610D"/>
      </a:accent5>
      <a:accent6>
        <a:srgbClr val="3A3E37"/>
      </a:accent6>
      <a:hlink>
        <a:srgbClr val="A64708"/>
      </a:hlink>
      <a:folHlink>
        <a:srgbClr val="61655F"/>
      </a:folHlink>
    </a:clrScheme>
    <a:fontScheme name="Dep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BINMAN: how it works</dc:title>
  <dc:subject>An atlas of molecular glues already in the PDB</dc:subject>
  <dc:creator>Marc C. Deller</dc:creator>
  <cp:lastModifiedBy>Marc C. Deller</cp:lastModifiedBy>
  <cp:revision>1</cp:revision>
  <dcterms:created xsi:type="dcterms:W3CDTF">2026-10-17T03:19:56Z</dcterms:created>
  <dcterms:modified xsi:type="dcterms:W3CDTF">2026-10-17T03:19:56Z</dcterms:modified>
</cp:coreProperties>
</file>